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5"/>
  </p:sldMasterIdLst>
  <p:notesMasterIdLst>
    <p:notesMasterId r:id="rId19"/>
  </p:notesMasterIdLst>
  <p:sldIdLst>
    <p:sldId id="256" r:id="rId6"/>
    <p:sldId id="259" r:id="rId7"/>
    <p:sldId id="257" r:id="rId8"/>
    <p:sldId id="258" r:id="rId9"/>
    <p:sldId id="260" r:id="rId10"/>
    <p:sldId id="263" r:id="rId11"/>
    <p:sldId id="262" r:id="rId12"/>
    <p:sldId id="268" r:id="rId13"/>
    <p:sldId id="279" r:id="rId14"/>
    <p:sldId id="272" r:id="rId15"/>
    <p:sldId id="281" r:id="rId16"/>
    <p:sldId id="280"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3825" autoAdjust="0"/>
  </p:normalViewPr>
  <p:slideViewPr>
    <p:cSldViewPr snapToGrid="0">
      <p:cViewPr varScale="1">
        <p:scale>
          <a:sx n="102" d="100"/>
          <a:sy n="102" d="100"/>
        </p:scale>
        <p:origin x="138" y="6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80841A-55C9-4CB9-BF39-10CBD830FF58}" type="datetimeFigureOut">
              <a:rPr lang="en-US" smtClean="0"/>
              <a:t>12/12/2018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67679-5F33-418A-8777-9F241701AC39}" type="slidenum">
              <a:rPr lang="en-US" smtClean="0"/>
              <a:t>‹#›</a:t>
            </a:fld>
            <a:endParaRPr lang="en-US"/>
          </a:p>
        </p:txBody>
      </p:sp>
    </p:spTree>
    <p:extLst>
      <p:ext uri="{BB962C8B-B14F-4D97-AF65-F5344CB8AC3E}">
        <p14:creationId xmlns:p14="http://schemas.microsoft.com/office/powerpoint/2010/main" val="487881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eriklindernoren/Keras-GA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1</a:t>
            </a:fld>
            <a:endParaRPr lang="en-US"/>
          </a:p>
        </p:txBody>
      </p:sp>
    </p:spTree>
    <p:extLst>
      <p:ext uri="{BB962C8B-B14F-4D97-AF65-F5344CB8AC3E}">
        <p14:creationId xmlns:p14="http://schemas.microsoft.com/office/powerpoint/2010/main" val="3778837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dirty="0"/>
              <a:t>Terms: account, customer, login, payment, support, secure, update, verify</a:t>
            </a:r>
          </a:p>
          <a:p>
            <a:pPr lvl="2"/>
            <a:r>
              <a:rPr lang="en-US" dirty="0"/>
              <a:t>Stems: </a:t>
            </a:r>
            <a:r>
              <a:rPr lang="en-US" dirty="0" err="1"/>
              <a:t>secur</a:t>
            </a:r>
            <a:r>
              <a:rPr lang="en-US" dirty="0"/>
              <a:t>, </a:t>
            </a:r>
            <a:r>
              <a:rPr lang="en-US" dirty="0" err="1"/>
              <a:t>updat</a:t>
            </a:r>
            <a:r>
              <a:rPr lang="en-US" dirty="0"/>
              <a:t>, </a:t>
            </a:r>
            <a:r>
              <a:rPr lang="en-US" dirty="0" err="1"/>
              <a:t>verifi</a:t>
            </a:r>
            <a:endParaRPr lang="en-US" dirty="0"/>
          </a:p>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6</a:t>
            </a:fld>
            <a:endParaRPr lang="en-US"/>
          </a:p>
        </p:txBody>
      </p:sp>
    </p:spTree>
    <p:extLst>
      <p:ext uri="{BB962C8B-B14F-4D97-AF65-F5344CB8AC3E}">
        <p14:creationId xmlns:p14="http://schemas.microsoft.com/office/powerpoint/2010/main" val="883874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Code modified from GitHub project (</a:t>
            </a:r>
            <a:r>
              <a:rPr lang="en-US" dirty="0">
                <a:hlinkClick r:id="rId3"/>
              </a:rPr>
              <a:t>https://github.com/eriklindernoren/Keras-GAN</a:t>
            </a:r>
            <a:r>
              <a:rPr lang="en-US" dirty="0"/>
              <a:t>) </a:t>
            </a:r>
          </a:p>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7</a:t>
            </a:fld>
            <a:endParaRPr lang="en-US"/>
          </a:p>
        </p:txBody>
      </p:sp>
    </p:spTree>
    <p:extLst>
      <p:ext uri="{BB962C8B-B14F-4D97-AF65-F5344CB8AC3E}">
        <p14:creationId xmlns:p14="http://schemas.microsoft.com/office/powerpoint/2010/main" val="3436957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9</a:t>
            </a:fld>
            <a:endParaRPr lang="en-US"/>
          </a:p>
        </p:txBody>
      </p:sp>
    </p:spTree>
    <p:extLst>
      <p:ext uri="{BB962C8B-B14F-4D97-AF65-F5344CB8AC3E}">
        <p14:creationId xmlns:p14="http://schemas.microsoft.com/office/powerpoint/2010/main" val="2557224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10</a:t>
            </a:fld>
            <a:endParaRPr lang="en-US"/>
          </a:p>
        </p:txBody>
      </p:sp>
    </p:spTree>
    <p:extLst>
      <p:ext uri="{BB962C8B-B14F-4D97-AF65-F5344CB8AC3E}">
        <p14:creationId xmlns:p14="http://schemas.microsoft.com/office/powerpoint/2010/main" val="1162580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267679-5F33-418A-8777-9F241701AC39}" type="slidenum">
              <a:rPr lang="en-US" smtClean="0"/>
              <a:t>11</a:t>
            </a:fld>
            <a:endParaRPr lang="en-US"/>
          </a:p>
        </p:txBody>
      </p:sp>
    </p:spTree>
    <p:extLst>
      <p:ext uri="{BB962C8B-B14F-4D97-AF65-F5344CB8AC3E}">
        <p14:creationId xmlns:p14="http://schemas.microsoft.com/office/powerpoint/2010/main" val="208492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youtube.com/mitrecorp" TargetMode="Externa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hyperlink" Target="http://www.mitre.org/" TargetMode="External"/><Relationship Id="rId2" Type="http://schemas.openxmlformats.org/officeDocument/2006/relationships/hyperlink" Target="http://twitter.com/MITREcorp" TargetMode="External"/><Relationship Id="rId1" Type="http://schemas.openxmlformats.org/officeDocument/2006/relationships/slideMaster" Target="../slideMasters/slideMaster1.xml"/><Relationship Id="rId6" Type="http://schemas.openxmlformats.org/officeDocument/2006/relationships/hyperlink" Target="http://www.linkedin.com/company/mitre" TargetMode="External"/><Relationship Id="rId11" Type="http://schemas.openxmlformats.org/officeDocument/2006/relationships/image" Target="../media/image6.png"/><Relationship Id="rId5" Type="http://schemas.openxmlformats.org/officeDocument/2006/relationships/image" Target="../media/image3.jpeg"/><Relationship Id="rId10" Type="http://schemas.openxmlformats.org/officeDocument/2006/relationships/hyperlink" Target="https://plus.google.com/+MitreOrgFFRDCs/posts" TargetMode="External"/><Relationship Id="rId4" Type="http://schemas.openxmlformats.org/officeDocument/2006/relationships/hyperlink" Target="http://www.facebook.com/MITREcorp" TargetMode="External"/><Relationship Id="rId9"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dirty="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Arial" pitchFamily="34" charset="0"/>
                <a:cs typeface="Arial" pitchFamily="34" charset="0"/>
              </a:defRPr>
            </a:lvl1pPr>
          </a:lstStyle>
          <a:p>
            <a:r>
              <a:rPr lang="en-US" dirty="0"/>
              <a:t>Title here</a:t>
            </a:r>
          </a:p>
        </p:txBody>
      </p:sp>
      <p:cxnSp>
        <p:nvCxnSpPr>
          <p:cNvPr id="15" name="Straight Connector 14"/>
          <p:cNvCxnSpPr/>
          <p:nvPr/>
        </p:nvCxnSpPr>
        <p:spPr bwMode="auto">
          <a:xfrm>
            <a:off x="1098208" y="2448468"/>
            <a:ext cx="10593057" cy="0"/>
          </a:xfrm>
          <a:prstGeom prst="line">
            <a:avLst/>
          </a:prstGeom>
          <a:solidFill>
            <a:srgbClr val="FFCC99"/>
          </a:solidFill>
          <a:ln w="12700" cap="flat" cmpd="sng" algn="ctr">
            <a:solidFill>
              <a:srgbClr val="C1CD23"/>
            </a:solidFill>
            <a:prstDash val="solid"/>
            <a:round/>
            <a:headEnd type="none" w="med" len="med"/>
            <a:tailEnd type="none" w="med" len="med"/>
          </a:ln>
          <a:effectLst/>
        </p:spPr>
      </p:cxnSp>
      <p:cxnSp>
        <p:nvCxnSpPr>
          <p:cNvPr id="16" name="Straight Connector 15"/>
          <p:cNvCxnSpPr/>
          <p:nvPr/>
        </p:nvCxnSpPr>
        <p:spPr bwMode="auto">
          <a:xfrm>
            <a:off x="1098208" y="6534227"/>
            <a:ext cx="10593057" cy="0"/>
          </a:xfrm>
          <a:prstGeom prst="line">
            <a:avLst/>
          </a:prstGeom>
          <a:solidFill>
            <a:srgbClr val="FFCC99"/>
          </a:solidFill>
          <a:ln w="12700" cap="flat" cmpd="sng" algn="ctr">
            <a:solidFill>
              <a:srgbClr val="C1CD23"/>
            </a:solidFill>
            <a:prstDash val="solid"/>
            <a:round/>
            <a:headEnd type="none" w="med" len="med"/>
            <a:tailEnd type="none" w="med" len="med"/>
          </a:ln>
          <a:effectLst/>
        </p:spPr>
      </p:cxn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2848" y="6276196"/>
            <a:ext cx="670505" cy="243820"/>
          </a:xfrm>
          <a:prstGeom prst="rect">
            <a:avLst/>
          </a:prstGeom>
        </p:spPr>
      </p:pic>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rgbClr val="C1CD23"/>
            </a:solidFill>
            <a:prstDash val="solid"/>
            <a:round/>
            <a:headEnd type="none" w="med" len="med"/>
            <a:tailEnd type="none" w="med" len="med"/>
          </a:ln>
          <a:effectLst/>
        </p:spPr>
      </p:cxnSp>
      <p:cxnSp>
        <p:nvCxnSpPr>
          <p:cNvPr id="22" name="Straight Connector 21"/>
          <p:cNvCxnSpPr/>
          <p:nvPr/>
        </p:nvCxnSpPr>
        <p:spPr bwMode="auto">
          <a:xfrm>
            <a:off x="1098208" y="6534227"/>
            <a:ext cx="10593057" cy="0"/>
          </a:xfrm>
          <a:prstGeom prst="line">
            <a:avLst/>
          </a:prstGeom>
          <a:solidFill>
            <a:srgbClr val="FFCC99"/>
          </a:solidFill>
          <a:ln w="12700" cap="flat" cmpd="sng" algn="ctr">
            <a:solidFill>
              <a:srgbClr val="C1CD23"/>
            </a:solidFill>
            <a:prstDash val="solid"/>
            <a:round/>
            <a:headEnd type="none" w="med" len="med"/>
            <a:tailEnd type="none" w="med" len="med"/>
          </a:ln>
          <a:effectLst/>
        </p:spPr>
      </p:cxnSp>
      <p:pic>
        <p:nvPicPr>
          <p:cNvPr id="23" name="Pict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2848" y="6276196"/>
            <a:ext cx="670505" cy="243820"/>
          </a:xfrm>
          <a:prstGeom prst="rect">
            <a:avLst/>
          </a:prstGeom>
        </p:spPr>
      </p:pic>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dirty="0"/>
              <a:t>Author</a:t>
            </a:r>
          </a:p>
        </p:txBody>
      </p:sp>
      <p:sp>
        <p:nvSpPr>
          <p:cNvPr id="24" name="Footer Placeholder 4">
            <a:extLst>
              <a:ext uri="{FF2B5EF4-FFF2-40B4-BE49-F238E27FC236}">
                <a16:creationId xmlns:a16="http://schemas.microsoft.com/office/drawing/2014/main" xmlns="" id="{A6F8C1D3-B223-45F7-8AB1-F8F23D05F8D9}"/>
              </a:ext>
            </a:extLst>
          </p:cNvPr>
          <p:cNvSpPr txBox="1">
            <a:spLocks/>
          </p:cNvSpPr>
          <p:nvPr userDrawn="1"/>
        </p:nvSpPr>
        <p:spPr>
          <a:xfrm>
            <a:off x="1098208" y="6625799"/>
            <a:ext cx="6679510" cy="115394"/>
          </a:xfrm>
          <a:prstGeom prst="rect">
            <a:avLst/>
          </a:prstGeom>
        </p:spPr>
        <p:txBody>
          <a:bodyPr vert="horz" lIns="0" tIns="0" rIns="0" bIns="0" rtlCol="0" anchor="ctr"/>
          <a:lstStyle>
            <a:defPPr>
              <a:defRPr lang="en-US"/>
            </a:defPPr>
            <a:lvl1pPr marL="0" algn="l"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Tx/>
              <a:buNone/>
              <a:tabLst/>
              <a:defRPr/>
            </a:pPr>
            <a:r>
              <a:rPr lang="en-US" altLang="en-US" sz="800" b="0" dirty="0">
                <a:solidFill>
                  <a:schemeClr val="tx1">
                    <a:lumMod val="50000"/>
                    <a:lumOff val="50000"/>
                  </a:schemeClr>
                </a:solidFill>
                <a:latin typeface="Arial" pitchFamily="34" charset="0"/>
                <a:cs typeface="Arial" pitchFamily="34" charset="0"/>
              </a:rPr>
              <a:t>© 2018</a:t>
            </a:r>
            <a:r>
              <a:rPr lang="en-US" altLang="en-US" sz="800" b="0" baseline="0" dirty="0">
                <a:solidFill>
                  <a:schemeClr val="tx1">
                    <a:lumMod val="50000"/>
                    <a:lumOff val="50000"/>
                  </a:schemeClr>
                </a:solidFill>
                <a:latin typeface="Arial" pitchFamily="34" charset="0"/>
                <a:cs typeface="Arial" pitchFamily="34" charset="0"/>
              </a:rPr>
              <a:t> </a:t>
            </a:r>
            <a:r>
              <a:rPr lang="en-US" altLang="en-US" sz="800" b="0" dirty="0">
                <a:solidFill>
                  <a:schemeClr val="tx1">
                    <a:lumMod val="50000"/>
                    <a:lumOff val="50000"/>
                  </a:schemeClr>
                </a:solidFill>
                <a:latin typeface="Arial" pitchFamily="34" charset="0"/>
                <a:cs typeface="Arial" pitchFamily="34" charset="0"/>
              </a:rPr>
              <a:t>The MITRE Corporation. All rights reserved.</a:t>
            </a:r>
            <a:r>
              <a:rPr lang="en-US" sz="800" dirty="0">
                <a:latin typeface="Calibri" panose="020F0502020204030204" pitchFamily="34" charset="0"/>
                <a:cs typeface="Calibri" panose="020F0502020204030204" pitchFamily="34" charset="0"/>
              </a:rPr>
              <a:t> Approved for Public Release; Distribution Unlimited. Case Number 18-4439.</a:t>
            </a:r>
          </a:p>
          <a:p>
            <a:pPr algn="l">
              <a:lnSpc>
                <a:spcPct val="100000"/>
              </a:lnSpc>
              <a:spcAft>
                <a:spcPct val="0"/>
              </a:spcAft>
              <a:buClrTx/>
            </a:pPr>
            <a:endParaRPr lang="en-US" altLang="en-US" sz="800" b="0"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89E1AE-2D0B-4241-8DAC-76DB425687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Arial" pitchFamily="34" charset="0"/>
                <a:ea typeface="Verdana" pitchFamily="34" charset="0"/>
                <a:cs typeface="Arial"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Arial" pitchFamily="34" charset="0"/>
                <a:ea typeface="Verdana" pitchFamily="34" charset="0"/>
                <a:cs typeface="Arial"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000" kern="1200" smtClean="0">
                <a:solidFill>
                  <a:schemeClr val="tx1"/>
                </a:solidFill>
                <a:latin typeface="Arial" pitchFamily="34" charset="0"/>
                <a:ea typeface="Verdana" pitchFamily="34" charset="0"/>
                <a:cs typeface="Arial" pitchFamily="34" charset="0"/>
              </a:defRPr>
            </a:lvl3pPr>
            <a:lvl4pPr algn="l" defTabSz="1216185" rtl="0" eaLnBrk="1" latinLnBrk="0" hangingPunct="1">
              <a:spcBef>
                <a:spcPts val="0"/>
              </a:spcBef>
              <a:spcAft>
                <a:spcPts val="798"/>
              </a:spcAft>
              <a:buClr>
                <a:schemeClr val="tx2"/>
              </a:buClr>
              <a:defRPr lang="en-US" sz="2660" b="1" kern="1200" smtClean="0">
                <a:solidFill>
                  <a:schemeClr val="tx1"/>
                </a:solidFill>
                <a:latin typeface="Arial" pitchFamily="34" charset="0"/>
                <a:ea typeface="Verdana" pitchFamily="34" charset="0"/>
                <a:cs typeface="Arial"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5" name="Footer Placeholder 4">
            <a:extLst>
              <a:ext uri="{FF2B5EF4-FFF2-40B4-BE49-F238E27FC236}">
                <a16:creationId xmlns:a16="http://schemas.microsoft.com/office/drawing/2014/main" xmlns="" id="{23EC0F36-D4CB-468E-9966-B9986B20A44E}"/>
              </a:ext>
            </a:extLst>
          </p:cNvPr>
          <p:cNvSpPr>
            <a:spLocks noGrp="1"/>
          </p:cNvSpPr>
          <p:nvPr>
            <p:ph type="ftr" sz="quarter" idx="11"/>
          </p:nvPr>
        </p:nvSpPr>
        <p:spPr>
          <a:xfrm>
            <a:off x="616448" y="6521957"/>
            <a:ext cx="7536952" cy="239059"/>
          </a:xfrm>
        </p:spPr>
        <p:txBody>
          <a:bodyPr/>
          <a:lstStyle>
            <a:lvl1pPr algn="l">
              <a:defRPr/>
            </a:lvl1pPr>
          </a:lstStyle>
          <a:p>
            <a:r>
              <a:rPr lang="en-US" altLang="en-US" dirty="0">
                <a:solidFill>
                  <a:schemeClr val="tx1">
                    <a:lumMod val="50000"/>
                    <a:lumOff val="50000"/>
                  </a:schemeClr>
                </a:solidFill>
                <a:latin typeface="Arial" pitchFamily="34" charset="0"/>
                <a:cs typeface="Arial" pitchFamily="34" charset="0"/>
              </a:rPr>
              <a:t>© 2018 The MITRE Corporation. All rights reserved.</a:t>
            </a:r>
            <a:r>
              <a:rPr lang="en-US" dirty="0">
                <a:cs typeface="Calibri" panose="020F0502020204030204" pitchFamily="34" charset="0"/>
              </a:rPr>
              <a:t> 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2811897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Arial" pitchFamily="34" charset="0"/>
                <a:cs typeface="Times New Roman" pitchFamily="18" charset="0"/>
              </a:defRPr>
            </a:lvl1pPr>
          </a:lstStyle>
          <a:p>
            <a:r>
              <a:rPr lang="en-US" dirty="0"/>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3" name="TextBox 12">
            <a:extLst>
              <a:ext uri="{FF2B5EF4-FFF2-40B4-BE49-F238E27FC236}">
                <a16:creationId xmlns:a16="http://schemas.microsoft.com/office/drawing/2014/main" xmlns="" id="{BF1D9E33-DF0A-4F22-A776-BD2A738E4ABE}"/>
              </a:ext>
            </a:extLst>
          </p:cNvPr>
          <p:cNvSpPr txBox="1"/>
          <p:nvPr userDrawn="1"/>
        </p:nvSpPr>
        <p:spPr>
          <a:xfrm>
            <a:off x="9841523" y="64176"/>
            <a:ext cx="2138947" cy="246221"/>
          </a:xfrm>
          <a:prstGeom prst="rect">
            <a:avLst/>
          </a:prstGeom>
          <a:noFill/>
        </p:spPr>
        <p:txBody>
          <a:bodyPr wrap="square" rtlCol="0">
            <a:spAutoFit/>
          </a:bodyPr>
          <a:lstStyle/>
          <a:p>
            <a:pPr marL="0" marR="0" indent="0" algn="r" defTabSz="914377" rtl="0" eaLnBrk="1" fontAlgn="auto" latinLnBrk="0" hangingPunct="1">
              <a:lnSpc>
                <a:spcPct val="100000"/>
              </a:lnSpc>
              <a:spcBef>
                <a:spcPts val="0"/>
              </a:spcBef>
              <a:spcAft>
                <a:spcPts val="600"/>
              </a:spcAft>
              <a:buClrTx/>
              <a:buSzTx/>
              <a:buFontTx/>
              <a:buNone/>
              <a:tabLst/>
              <a:defRPr/>
            </a:pPr>
            <a:r>
              <a:rPr lang="en-US" sz="1000" dirty="0">
                <a:solidFill>
                  <a:srgbClr val="C1CD23"/>
                </a:solidFill>
                <a:latin typeface="Arial" pitchFamily="34" charset="0"/>
              </a:rPr>
              <a:t>|</a:t>
            </a:r>
            <a:r>
              <a:rPr lang="en-US" sz="1000" dirty="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377" rtl="0" eaLnBrk="1" fontAlgn="auto" latinLnBrk="0" hangingPunct="1">
                <a:lnSpc>
                  <a:spcPct val="100000"/>
                </a:lnSpc>
                <a:spcBef>
                  <a:spcPts val="0"/>
                </a:spcBef>
                <a:spcAft>
                  <a:spcPts val="600"/>
                </a:spcAft>
                <a:buClrTx/>
                <a:buSzTx/>
                <a:buFontTx/>
                <a:buNone/>
                <a:tabLst/>
                <a:defRPr/>
              </a:pPr>
              <a:t>‹#›</a:t>
            </a:fld>
            <a:r>
              <a:rPr lang="en-US" sz="1000" dirty="0">
                <a:latin typeface="Arial" pitchFamily="34" charset="0"/>
              </a:rPr>
              <a:t> </a:t>
            </a:r>
            <a:r>
              <a:rPr lang="en-US" sz="1000" dirty="0">
                <a:solidFill>
                  <a:srgbClr val="C1CD23"/>
                </a:solidFill>
                <a:latin typeface="Arial" pitchFamily="34" charset="0"/>
              </a:rPr>
              <a:t>|</a:t>
            </a:r>
            <a:r>
              <a:rPr lang="en-US" sz="1000" dirty="0">
                <a:ea typeface="Verdana" pitchFamily="34" charset="0"/>
                <a:cs typeface="Verdana" pitchFamily="34" charset="0"/>
              </a:rPr>
              <a:t> </a:t>
            </a:r>
          </a:p>
        </p:txBody>
      </p:sp>
      <p:pic>
        <p:nvPicPr>
          <p:cNvPr id="14" name="Picture 13">
            <a:extLst>
              <a:ext uri="{FF2B5EF4-FFF2-40B4-BE49-F238E27FC236}">
                <a16:creationId xmlns:a16="http://schemas.microsoft.com/office/drawing/2014/main" xmlns="" id="{A241DE5F-970E-4BD9-80BB-E93A31140F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2664" y="6514043"/>
            <a:ext cx="670505" cy="243820"/>
          </a:xfrm>
          <a:prstGeom prst="rect">
            <a:avLst/>
          </a:prstGeom>
        </p:spPr>
      </p:pic>
    </p:spTree>
    <p:extLst>
      <p:ext uri="{BB962C8B-B14F-4D97-AF65-F5344CB8AC3E}">
        <p14:creationId xmlns:p14="http://schemas.microsoft.com/office/powerpoint/2010/main" val="115249480"/>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F2E0C53-8592-4185-BA98-B6863E30C1C9}"/>
              </a:ext>
            </a:extLst>
          </p:cNvPr>
          <p:cNvSpPr>
            <a:spLocks noGrp="1"/>
          </p:cNvSpPr>
          <p:nvPr>
            <p:ph sz="half" idx="1"/>
          </p:nvPr>
        </p:nvSpPr>
        <p:spPr>
          <a:xfrm>
            <a:off x="838200" y="1825625"/>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xmlns="" id="{C4FAA94F-F00A-4D54-B986-1C6CE3499C6F}"/>
              </a:ext>
            </a:extLst>
          </p:cNvPr>
          <p:cNvSpPr>
            <a:spLocks noGrp="1"/>
          </p:cNvSpPr>
          <p:nvPr>
            <p:ph sz="half" idx="2"/>
          </p:nvPr>
        </p:nvSpPr>
        <p:spPr>
          <a:xfrm>
            <a:off x="6172200" y="1825625"/>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8" name="Footer Placeholder 4">
            <a:extLst>
              <a:ext uri="{FF2B5EF4-FFF2-40B4-BE49-F238E27FC236}">
                <a16:creationId xmlns:a16="http://schemas.microsoft.com/office/drawing/2014/main" xmlns="" id="{D9402E9C-BD42-4CBC-B8DB-6DD8E327B3E0}"/>
              </a:ext>
            </a:extLst>
          </p:cNvPr>
          <p:cNvSpPr>
            <a:spLocks noGrp="1"/>
          </p:cNvSpPr>
          <p:nvPr>
            <p:ph type="ftr" sz="quarter" idx="11"/>
          </p:nvPr>
        </p:nvSpPr>
        <p:spPr>
          <a:xfrm>
            <a:off x="616448" y="6521957"/>
            <a:ext cx="7536952" cy="239059"/>
          </a:xfrm>
        </p:spPr>
        <p:txBody>
          <a:bodyPr/>
          <a:lstStyle>
            <a:lvl1pPr algn="l">
              <a:defRPr/>
            </a:lvl1p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xmlns="" id="{13AEDCC4-6D38-465B-B49A-7AF26D66809D}"/>
              </a:ext>
            </a:extLst>
          </p:cNvPr>
          <p:cNvSpPr>
            <a:spLocks noGrp="1"/>
          </p:cNvSpPr>
          <p:nvPr>
            <p:ph type="ftr" sz="quarter" idx="11"/>
          </p:nvPr>
        </p:nvSpPr>
        <p:spPr>
          <a:xfrm>
            <a:off x="616448" y="6521957"/>
            <a:ext cx="7536952" cy="239059"/>
          </a:xfrm>
        </p:spPr>
        <p:txBody>
          <a:bodyPr/>
          <a:lstStyle>
            <a:lvl1pPr algn="l">
              <a:defRPr/>
            </a:lvl1p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57200" y="1162058"/>
            <a:ext cx="11391900" cy="24471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1"/>
              </a:solidFill>
            </a:endParaRPr>
          </a:p>
        </p:txBody>
      </p:sp>
      <p:sp>
        <p:nvSpPr>
          <p:cNvPr id="4" name="Footer Placeholder 4">
            <a:extLst>
              <a:ext uri="{FF2B5EF4-FFF2-40B4-BE49-F238E27FC236}">
                <a16:creationId xmlns:a16="http://schemas.microsoft.com/office/drawing/2014/main" xmlns="" id="{37372B85-3FD3-4851-8934-DDF405A5FEBD}"/>
              </a:ext>
            </a:extLst>
          </p:cNvPr>
          <p:cNvSpPr>
            <a:spLocks noGrp="1"/>
          </p:cNvSpPr>
          <p:nvPr>
            <p:ph type="ftr" sz="quarter" idx="11"/>
          </p:nvPr>
        </p:nvSpPr>
        <p:spPr>
          <a:xfrm>
            <a:off x="616448" y="6521957"/>
            <a:ext cx="7536952" cy="239059"/>
          </a:xfrm>
        </p:spPr>
        <p:txBody>
          <a:bodyPr/>
          <a:lstStyle>
            <a:lvl1pPr algn="l">
              <a:defRPr/>
            </a:lvl1p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8697079-05C2-487B-BD8F-373075246ED9}"/>
              </a:ext>
            </a:extLst>
          </p:cNvPr>
          <p:cNvSpPr txBox="1"/>
          <p:nvPr userDrawn="1"/>
        </p:nvSpPr>
        <p:spPr>
          <a:xfrm>
            <a:off x="10053053" y="64176"/>
            <a:ext cx="2138947" cy="246221"/>
          </a:xfrm>
          <a:prstGeom prst="rect">
            <a:avLst/>
          </a:prstGeom>
          <a:noFill/>
        </p:spPr>
        <p:txBody>
          <a:bodyPr wrap="square" rtlCol="0">
            <a:spAutoFit/>
          </a:bodyPr>
          <a:lstStyle/>
          <a:p>
            <a:pPr marL="0" marR="0" indent="0" algn="r" defTabSz="914377" rtl="0" eaLnBrk="1" fontAlgn="auto" latinLnBrk="0" hangingPunct="1">
              <a:lnSpc>
                <a:spcPct val="100000"/>
              </a:lnSpc>
              <a:spcBef>
                <a:spcPts val="0"/>
              </a:spcBef>
              <a:spcAft>
                <a:spcPts val="600"/>
              </a:spcAft>
              <a:buClrTx/>
              <a:buSzTx/>
              <a:buFontTx/>
              <a:buNone/>
              <a:tabLst/>
              <a:defRPr/>
            </a:pPr>
            <a:r>
              <a:rPr lang="en-US" sz="1000" dirty="0">
                <a:solidFill>
                  <a:srgbClr val="C1CD23"/>
                </a:solidFill>
                <a:latin typeface="Arial" pitchFamily="34" charset="0"/>
              </a:rPr>
              <a:t>|</a:t>
            </a:r>
            <a:r>
              <a:rPr lang="en-US" sz="1000" dirty="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377" rtl="0" eaLnBrk="1" fontAlgn="auto" latinLnBrk="0" hangingPunct="1">
                <a:lnSpc>
                  <a:spcPct val="100000"/>
                </a:lnSpc>
                <a:spcBef>
                  <a:spcPts val="0"/>
                </a:spcBef>
                <a:spcAft>
                  <a:spcPts val="600"/>
                </a:spcAft>
                <a:buClrTx/>
                <a:buSzTx/>
                <a:buFontTx/>
                <a:buNone/>
                <a:tabLst/>
                <a:defRPr/>
              </a:pPr>
              <a:t>‹#›</a:t>
            </a:fld>
            <a:r>
              <a:rPr lang="en-US" sz="1000" dirty="0">
                <a:latin typeface="Arial" pitchFamily="34" charset="0"/>
              </a:rPr>
              <a:t> </a:t>
            </a:r>
            <a:r>
              <a:rPr lang="en-US" sz="1000" dirty="0">
                <a:solidFill>
                  <a:srgbClr val="C1CD23"/>
                </a:solidFill>
                <a:latin typeface="Arial" pitchFamily="34" charset="0"/>
              </a:rPr>
              <a:t>|</a:t>
            </a:r>
            <a:r>
              <a:rPr lang="en-US" sz="1000" dirty="0">
                <a:ea typeface="Verdana" pitchFamily="34" charset="0"/>
                <a:cs typeface="Verdana" pitchFamily="34" charset="0"/>
              </a:rPr>
              <a:t> </a:t>
            </a:r>
          </a:p>
        </p:txBody>
      </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15815" y="1162058"/>
            <a:ext cx="11333285" cy="303327"/>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1"/>
              </a:solidFill>
            </a:endParaRPr>
          </a:p>
        </p:txBody>
      </p:sp>
      <p:grpSp>
        <p:nvGrpSpPr>
          <p:cNvPr id="4" name="Group 3"/>
          <p:cNvGrpSpPr/>
          <p:nvPr/>
        </p:nvGrpSpPr>
        <p:grpSpPr>
          <a:xfrm>
            <a:off x="4180109" y="4759342"/>
            <a:ext cx="3732451" cy="687607"/>
            <a:chOff x="2659017" y="4816914"/>
            <a:chExt cx="3732451" cy="687607"/>
          </a:xfrm>
        </p:grpSpPr>
        <p:pic>
          <p:nvPicPr>
            <p:cNvPr id="5" name="Picture 4">
              <a:hlinkClick r:id="rId2"/>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9017" y="4940349"/>
              <a:ext cx="443605" cy="443605"/>
            </a:xfrm>
            <a:prstGeom prst="rect">
              <a:avLst/>
            </a:prstGeom>
          </p:spPr>
        </p:pic>
        <p:pic>
          <p:nvPicPr>
            <p:cNvPr id="6" name="Picture 5">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74271" y="4982267"/>
              <a:ext cx="377994" cy="377994"/>
            </a:xfrm>
            <a:prstGeom prst="rect">
              <a:avLst/>
            </a:prstGeom>
          </p:spPr>
        </p:pic>
        <p:pic>
          <p:nvPicPr>
            <p:cNvPr id="7" name="Picture 6">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90385" y="4959899"/>
              <a:ext cx="1114344" cy="413237"/>
            </a:xfrm>
            <a:prstGeom prst="rect">
              <a:avLst/>
            </a:prstGeom>
          </p:spPr>
        </p:pic>
        <p:pic>
          <p:nvPicPr>
            <p:cNvPr id="8" name="Picture 7">
              <a:hlinkClick r:id="rId8"/>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01766" y="4816914"/>
              <a:ext cx="972527" cy="687607"/>
            </a:xfrm>
            <a:prstGeom prst="rect">
              <a:avLst/>
            </a:prstGeom>
          </p:spPr>
        </p:pic>
        <p:pic>
          <p:nvPicPr>
            <p:cNvPr id="9" name="Picture 8">
              <a:hlinkClick r:id="rId10"/>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05535" y="4973550"/>
              <a:ext cx="385933" cy="385933"/>
            </a:xfrm>
            <a:prstGeom prst="rect">
              <a:avLst/>
            </a:prstGeom>
          </p:spPr>
        </p:pic>
      </p:grpSp>
      <p:sp>
        <p:nvSpPr>
          <p:cNvPr id="10" name="TextBox 9"/>
          <p:cNvSpPr txBox="1"/>
          <p:nvPr/>
        </p:nvSpPr>
        <p:spPr>
          <a:xfrm>
            <a:off x="3153845" y="2396381"/>
            <a:ext cx="5784978" cy="2277547"/>
          </a:xfrm>
          <a:prstGeom prst="rect">
            <a:avLst/>
          </a:prstGeom>
          <a:noFill/>
        </p:spPr>
        <p:txBody>
          <a:bodyPr wrap="square" rtlCol="0">
            <a:spAutoFit/>
          </a:bodyPr>
          <a:lstStyle/>
          <a:p>
            <a:pPr algn="ctr">
              <a:spcAft>
                <a:spcPts val="600"/>
              </a:spcAft>
            </a:pPr>
            <a:r>
              <a:rPr lang="en-US" sz="1600" dirty="0">
                <a:solidFill>
                  <a:schemeClr val="tx1">
                    <a:lumMod val="50000"/>
                    <a:lumOff val="50000"/>
                  </a:schemeClr>
                </a:solidFill>
              </a:rPr>
              <a:t>MITRE is a not-for-profit organization whose sole focus is to operate federally funded research and development centers, or FFRDCs. Independent and objective, we take on some of our nation's—and the world’s—most critical challenges and provide innovative, practical solutions.</a:t>
            </a:r>
          </a:p>
          <a:p>
            <a:pPr marL="0" lvl="1" algn="ctr">
              <a:spcAft>
                <a:spcPts val="600"/>
              </a:spcAft>
            </a:pPr>
            <a:r>
              <a:rPr lang="en-US" dirty="0">
                <a:solidFill>
                  <a:schemeClr val="tx1">
                    <a:lumMod val="50000"/>
                    <a:lumOff val="50000"/>
                  </a:schemeClr>
                </a:solidFill>
              </a:rPr>
              <a:t>Learn and share more about MITRE, FFRDCs,</a:t>
            </a:r>
            <a:br>
              <a:rPr lang="en-US" dirty="0">
                <a:solidFill>
                  <a:schemeClr val="tx1">
                    <a:lumMod val="50000"/>
                    <a:lumOff val="50000"/>
                  </a:schemeClr>
                </a:solidFill>
              </a:rPr>
            </a:br>
            <a:r>
              <a:rPr lang="en-US" dirty="0">
                <a:solidFill>
                  <a:schemeClr val="tx1">
                    <a:lumMod val="50000"/>
                    <a:lumOff val="50000"/>
                  </a:schemeClr>
                </a:solidFill>
              </a:rPr>
              <a:t>and our unique value at </a:t>
            </a:r>
            <a:r>
              <a:rPr lang="en-US" u="sng" dirty="0">
                <a:solidFill>
                  <a:schemeClr val="tx1">
                    <a:lumMod val="50000"/>
                    <a:lumOff val="50000"/>
                  </a:schemeClr>
                </a:solidFill>
                <a:hlinkClick r:id="rId12"/>
              </a:rPr>
              <a:t>www.mitre.org</a:t>
            </a:r>
            <a:r>
              <a:rPr lang="en-US" dirty="0">
                <a:solidFill>
                  <a:schemeClr val="tx1">
                    <a:lumMod val="50000"/>
                    <a:lumOff val="50000"/>
                  </a:schemeClr>
                </a:solidFill>
              </a:rPr>
              <a:t> </a:t>
            </a:r>
          </a:p>
          <a:p>
            <a:pPr algn="ctr">
              <a:spcAft>
                <a:spcPts val="600"/>
              </a:spcAft>
            </a:pPr>
            <a:r>
              <a:rPr lang="en-US" sz="1600" dirty="0">
                <a:solidFill>
                  <a:schemeClr val="tx1">
                    <a:lumMod val="50000"/>
                    <a:lumOff val="50000"/>
                  </a:schemeClr>
                </a:solidFill>
              </a:rPr>
              <a:t> </a:t>
            </a:r>
            <a:endParaRPr lang="en-US" sz="1400" dirty="0">
              <a:solidFill>
                <a:schemeClr val="tx1">
                  <a:lumMod val="50000"/>
                  <a:lumOff val="50000"/>
                </a:schemeClr>
              </a:solidFill>
              <a:ea typeface="Verdana" pitchFamily="34" charset="0"/>
              <a:cs typeface="Verdana" pitchFamily="34" charset="0"/>
            </a:endParaRPr>
          </a:p>
        </p:txBody>
      </p:sp>
      <p:pic>
        <p:nvPicPr>
          <p:cNvPr id="11" name="Picture 1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181600" y="1295400"/>
            <a:ext cx="1729468" cy="791415"/>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xmlns=""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dirty="0"/>
              <a:t>Edit Master text styles</a:t>
            </a:r>
          </a:p>
          <a:p>
            <a:pPr marL="686216" lvl="1" indent="-304046" defTabSz="1216185">
              <a:spcBef>
                <a:spcPts val="0"/>
              </a:spcBef>
              <a:spcAft>
                <a:spcPts val="798"/>
              </a:spcAft>
              <a:buClr>
                <a:schemeClr val="tx2"/>
              </a:buClr>
              <a:buChar char="–"/>
            </a:pPr>
            <a:r>
              <a:rPr lang="en-US" dirty="0"/>
              <a:t>Second level</a:t>
            </a:r>
          </a:p>
          <a:p>
            <a:pPr marL="994485" lvl="2" indent="-308269" defTabSz="1216185">
              <a:spcBef>
                <a:spcPts val="0"/>
              </a:spcBef>
              <a:spcAft>
                <a:spcPts val="798"/>
              </a:spcAft>
              <a:buClr>
                <a:schemeClr val="tx2"/>
              </a:buClr>
              <a:buSzPct val="110000"/>
              <a:buFont typeface="Wingdings" pitchFamily="2" charset="2"/>
              <a:buChar char="§"/>
            </a:pPr>
            <a:r>
              <a:rPr lang="en-US" dirty="0"/>
              <a:t>Third level</a:t>
            </a:r>
          </a:p>
        </p:txBody>
      </p:sp>
      <p:sp>
        <p:nvSpPr>
          <p:cNvPr id="5" name="Footer Placeholder 4">
            <a:extLst>
              <a:ext uri="{FF2B5EF4-FFF2-40B4-BE49-F238E27FC236}">
                <a16:creationId xmlns:a16="http://schemas.microsoft.com/office/drawing/2014/main" xmlns="" id="{0BFB014C-8519-4FF8-8586-D4137994061A}"/>
              </a:ext>
            </a:extLst>
          </p:cNvPr>
          <p:cNvSpPr>
            <a:spLocks noGrp="1"/>
          </p:cNvSpPr>
          <p:nvPr>
            <p:ph type="ftr" sz="quarter" idx="3"/>
          </p:nvPr>
        </p:nvSpPr>
        <p:spPr>
          <a:xfrm>
            <a:off x="616448" y="6561013"/>
            <a:ext cx="7536952" cy="196850"/>
          </a:xfrm>
          <a:prstGeom prst="rect">
            <a:avLst/>
          </a:prstGeom>
        </p:spPr>
        <p:txBody>
          <a:bodyPr vert="horz" lIns="0" tIns="0" rIns="0" bIns="0" rtlCol="0" anchor="ctr"/>
          <a:lstStyle>
            <a:lvl1pPr algn="ctr">
              <a:defRPr sz="800">
                <a:solidFill>
                  <a:schemeClr val="tx1">
                    <a:tint val="75000"/>
                  </a:schemeClr>
                </a:solidFill>
              </a:defRPr>
            </a:lvl1pPr>
          </a:lstStyle>
          <a:p>
            <a:pPr algn="l"/>
            <a:r>
              <a:rPr lang="en-US" altLang="en-US">
                <a:solidFill>
                  <a:schemeClr val="tx1">
                    <a:lumMod val="50000"/>
                    <a:lumOff val="50000"/>
                  </a:schemeClr>
                </a:solidFill>
                <a:latin typeface="Arial" pitchFamily="34" charset="0"/>
                <a:cs typeface="Arial" pitchFamily="34" charset="0"/>
              </a:rPr>
              <a:t>© 2018 The MITRE Corporation. All rights reserved.</a:t>
            </a:r>
            <a:endParaRPr lang="en-US">
              <a:solidFill>
                <a:schemeClr val="tx1">
                  <a:lumMod val="50000"/>
                  <a:lumOff val="50000"/>
                </a:schemeClr>
              </a:solidFill>
              <a:latin typeface="Arial" pitchFamily="34" charset="0"/>
              <a:cs typeface="Arial" pitchFamily="34" charset="0"/>
            </a:endParaRPr>
          </a:p>
        </p:txBody>
      </p:sp>
      <p:sp>
        <p:nvSpPr>
          <p:cNvPr id="10" name="Rectangle 9" descr="Artifact">
            <a:extLst>
              <a:ext uri="{FF2B5EF4-FFF2-40B4-BE49-F238E27FC236}">
                <a16:creationId xmlns:a16="http://schemas.microsoft.com/office/drawing/2014/main" xmlns=""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xmlns=""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2" name="Straight Connector 11" descr="Artifact">
            <a:extLst>
              <a:ext uri="{FF2B5EF4-FFF2-40B4-BE49-F238E27FC236}">
                <a16:creationId xmlns:a16="http://schemas.microsoft.com/office/drawing/2014/main" xmlns="" id="{DC069472-29C7-4CEC-83B3-DFDBE2BD327E}"/>
              </a:ext>
            </a:extLst>
          </p:cNvPr>
          <p:cNvCxnSpPr>
            <a:cxnSpLocks/>
          </p:cNvCxnSpPr>
          <p:nvPr/>
        </p:nvCxnSpPr>
        <p:spPr bwMode="auto">
          <a:xfrm>
            <a:off x="616449" y="1242752"/>
            <a:ext cx="11236720" cy="0"/>
          </a:xfrm>
          <a:prstGeom prst="line">
            <a:avLst/>
          </a:prstGeom>
          <a:solidFill>
            <a:srgbClr val="FFCC99"/>
          </a:solidFill>
          <a:ln w="12700" cap="flat" cmpd="sng" algn="ctr">
            <a:solidFill>
              <a:srgbClr val="C1CD23"/>
            </a:solidFill>
            <a:prstDash val="solid"/>
            <a:round/>
            <a:headEnd type="none" w="med" len="med"/>
            <a:tailEnd type="none" w="med" len="med"/>
          </a:ln>
          <a:effectLst/>
        </p:spPr>
      </p:cxnSp>
      <p:sp>
        <p:nvSpPr>
          <p:cNvPr id="13" name="Rectangle 12" descr="Artifact">
            <a:extLst>
              <a:ext uri="{FF2B5EF4-FFF2-40B4-BE49-F238E27FC236}">
                <a16:creationId xmlns:a16="http://schemas.microsoft.com/office/drawing/2014/main" xmlns="" id="{0FC1AD13-1188-4710-AA4D-CAD582AF814C}"/>
              </a:ext>
            </a:extLst>
          </p:cNvPr>
          <p:cNvSpPr/>
          <p:nvPr userDrawn="1"/>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xmlns=""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xmlns=""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rgbClr val="C1CD23"/>
            </a:solidFill>
            <a:prstDash val="solid"/>
            <a:round/>
            <a:headEnd type="none" w="med" len="med"/>
            <a:tailEnd type="none" w="med" len="med"/>
          </a:ln>
          <a:effectLst/>
        </p:spPr>
      </p:cxnSp>
      <p:sp>
        <p:nvSpPr>
          <p:cNvPr id="18" name="TextBox 17">
            <a:extLst>
              <a:ext uri="{FF2B5EF4-FFF2-40B4-BE49-F238E27FC236}">
                <a16:creationId xmlns:a16="http://schemas.microsoft.com/office/drawing/2014/main" xmlns="" id="{FFD758E3-BDA8-483C-A1E5-AE458E56D991}"/>
              </a:ext>
            </a:extLst>
          </p:cNvPr>
          <p:cNvSpPr txBox="1"/>
          <p:nvPr userDrawn="1"/>
        </p:nvSpPr>
        <p:spPr>
          <a:xfrm>
            <a:off x="9947031" y="64176"/>
            <a:ext cx="2138947" cy="246221"/>
          </a:xfrm>
          <a:prstGeom prst="rect">
            <a:avLst/>
          </a:prstGeom>
          <a:noFill/>
        </p:spPr>
        <p:txBody>
          <a:bodyPr wrap="square" rtlCol="0">
            <a:spAutoFit/>
          </a:bodyPr>
          <a:lstStyle/>
          <a:p>
            <a:pPr marL="0" marR="0" indent="0" algn="r" defTabSz="914377" rtl="0" eaLnBrk="1" fontAlgn="auto" latinLnBrk="0" hangingPunct="1">
              <a:lnSpc>
                <a:spcPct val="100000"/>
              </a:lnSpc>
              <a:spcBef>
                <a:spcPts val="0"/>
              </a:spcBef>
              <a:spcAft>
                <a:spcPts val="600"/>
              </a:spcAft>
              <a:buClrTx/>
              <a:buSzTx/>
              <a:buFontTx/>
              <a:buNone/>
              <a:tabLst/>
              <a:defRPr/>
            </a:pPr>
            <a:r>
              <a:rPr lang="en-US" sz="1000" dirty="0">
                <a:solidFill>
                  <a:srgbClr val="C1CD23"/>
                </a:solidFill>
                <a:latin typeface="Arial" pitchFamily="34" charset="0"/>
              </a:rPr>
              <a:t>|</a:t>
            </a:r>
            <a:r>
              <a:rPr lang="en-US" sz="1000" dirty="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377" rtl="0" eaLnBrk="1" fontAlgn="auto" latinLnBrk="0" hangingPunct="1">
                <a:lnSpc>
                  <a:spcPct val="100000"/>
                </a:lnSpc>
                <a:spcBef>
                  <a:spcPts val="0"/>
                </a:spcBef>
                <a:spcAft>
                  <a:spcPts val="600"/>
                </a:spcAft>
                <a:buClrTx/>
                <a:buSzTx/>
                <a:buFontTx/>
                <a:buNone/>
                <a:tabLst/>
                <a:defRPr/>
              </a:pPr>
              <a:t>‹#›</a:t>
            </a:fld>
            <a:r>
              <a:rPr lang="en-US" sz="1000" dirty="0">
                <a:latin typeface="Arial" pitchFamily="34" charset="0"/>
              </a:rPr>
              <a:t> </a:t>
            </a:r>
            <a:r>
              <a:rPr lang="en-US" sz="1000" dirty="0">
                <a:solidFill>
                  <a:srgbClr val="C1CD23"/>
                </a:solidFill>
                <a:latin typeface="Arial" pitchFamily="34" charset="0"/>
              </a:rPr>
              <a:t>|</a:t>
            </a:r>
            <a:r>
              <a:rPr lang="en-US" sz="1000" dirty="0">
                <a:ea typeface="Verdana" pitchFamily="34" charset="0"/>
                <a:cs typeface="Verdana" pitchFamily="34" charset="0"/>
              </a:rPr>
              <a:t> </a:t>
            </a:r>
          </a:p>
        </p:txBody>
      </p:sp>
      <p:pic>
        <p:nvPicPr>
          <p:cNvPr id="19" name="Picture 18">
            <a:extLst>
              <a:ext uri="{FF2B5EF4-FFF2-40B4-BE49-F238E27FC236}">
                <a16:creationId xmlns:a16="http://schemas.microsoft.com/office/drawing/2014/main" xmlns="" id="{FB8B1C87-FCE4-4A98-A8B4-227FE8ABB30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1182664" y="6514043"/>
            <a:ext cx="670505" cy="243820"/>
          </a:xfrm>
          <a:prstGeom prst="rect">
            <a:avLst/>
          </a:prstGeom>
        </p:spPr>
      </p:pic>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Arial" pitchFamily="34" charset="0"/>
          <a:ea typeface="Verdana" pitchFamily="34" charset="0"/>
          <a:cs typeface="Arial"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Arial" pitchFamily="34" charset="0"/>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smtClean="0">
          <a:solidFill>
            <a:schemeClr val="tx1"/>
          </a:solidFill>
          <a:latin typeface="Arial" pitchFamily="34" charset="0"/>
          <a:ea typeface="+mn-ea"/>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openclipart.org/detail/219973/alert-phish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arxiv.org/abs/1412.6572" TargetMode="External"/><Relationship Id="rId1" Type="http://schemas.openxmlformats.org/officeDocument/2006/relationships/slideLayout" Target="../slideLayouts/slideLayout2.xml"/><Relationship Id="rId6" Type="http://schemas.openxmlformats.org/officeDocument/2006/relationships/hyperlink" Target="https://creativecommons.org/licenses/by-nd/3.0/" TargetMode="External"/><Relationship Id="rId5" Type="http://schemas.openxmlformats.org/officeDocument/2006/relationships/hyperlink" Target="http://theconversation.com/gibbon-song-may-be-music-to-the-ears-of-human-language-students-9528" TargetMode="Externa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ai.lids.mit.edu/wp-content/uploads/2018/03/SDV.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academia.stackexchange.com/questions/86301/should-grading-take-all-students-performance-into-account"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495207-35DE-46E2-B7DB-F31265C44A28}"/>
              </a:ext>
            </a:extLst>
          </p:cNvPr>
          <p:cNvSpPr>
            <a:spLocks noGrp="1"/>
          </p:cNvSpPr>
          <p:nvPr>
            <p:ph type="ctrTitle" sz="quarter"/>
          </p:nvPr>
        </p:nvSpPr>
        <p:spPr>
          <a:xfrm>
            <a:off x="1009527" y="368932"/>
            <a:ext cx="10060549" cy="1981200"/>
          </a:xfrm>
        </p:spPr>
        <p:txBody>
          <a:bodyPr/>
          <a:lstStyle/>
          <a:p>
            <a:r>
              <a:rPr lang="en-US" dirty="0"/>
              <a:t>Using Generative Adversarial Networks to Improve Phishing Domain Classifiers</a:t>
            </a:r>
          </a:p>
        </p:txBody>
      </p:sp>
      <p:sp>
        <p:nvSpPr>
          <p:cNvPr id="7" name="Subtitle 6">
            <a:extLst>
              <a:ext uri="{FF2B5EF4-FFF2-40B4-BE49-F238E27FC236}">
                <a16:creationId xmlns:a16="http://schemas.microsoft.com/office/drawing/2014/main" xmlns="" id="{EC64448E-58F0-47AA-B058-D0CEF188B231}"/>
              </a:ext>
            </a:extLst>
          </p:cNvPr>
          <p:cNvSpPr>
            <a:spLocks noGrp="1"/>
          </p:cNvSpPr>
          <p:nvPr>
            <p:ph type="subTitle" idx="1"/>
          </p:nvPr>
        </p:nvSpPr>
        <p:spPr>
          <a:xfrm>
            <a:off x="1044164" y="2568943"/>
            <a:ext cx="5051836" cy="2861473"/>
          </a:xfrm>
        </p:spPr>
        <p:txBody>
          <a:bodyPr/>
          <a:lstStyle/>
          <a:p>
            <a:r>
              <a:rPr lang="en-US" dirty="0"/>
              <a:t>Jen Burns</a:t>
            </a:r>
          </a:p>
          <a:p>
            <a:r>
              <a:rPr lang="en-US"/>
              <a:t>Emily </a:t>
            </a:r>
            <a:r>
              <a:rPr lang="en-US" dirty="0"/>
              <a:t>Heath, PhD</a:t>
            </a:r>
          </a:p>
          <a:p>
            <a:r>
              <a:rPr lang="en-US" dirty="0"/>
              <a:t>The MITRE Corporation</a:t>
            </a:r>
          </a:p>
        </p:txBody>
      </p:sp>
      <p:pic>
        <p:nvPicPr>
          <p:cNvPr id="3" name="Picture 2">
            <a:extLst>
              <a:ext uri="{FF2B5EF4-FFF2-40B4-BE49-F238E27FC236}">
                <a16:creationId xmlns:a16="http://schemas.microsoft.com/office/drawing/2014/main" xmlns="" id="{A52C5670-2FFB-4811-887D-346437007B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xmlns="" r:id="rId4"/>
              </a:ext>
            </a:extLst>
          </a:blip>
          <a:stretch>
            <a:fillRect/>
          </a:stretch>
        </p:blipFill>
        <p:spPr>
          <a:xfrm>
            <a:off x="5122658" y="2878611"/>
            <a:ext cx="4702608" cy="3258516"/>
          </a:xfrm>
          <a:prstGeom prst="rect">
            <a:avLst/>
          </a:prstGeom>
        </p:spPr>
      </p:pic>
    </p:spTree>
    <p:extLst>
      <p:ext uri="{BB962C8B-B14F-4D97-AF65-F5344CB8AC3E}">
        <p14:creationId xmlns:p14="http://schemas.microsoft.com/office/powerpoint/2010/main" val="246246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A99653-8863-486B-96E5-4D2413BB308E}"/>
              </a:ext>
            </a:extLst>
          </p:cNvPr>
          <p:cNvSpPr>
            <a:spLocks noGrp="1"/>
          </p:cNvSpPr>
          <p:nvPr>
            <p:ph type="title"/>
          </p:nvPr>
        </p:nvSpPr>
        <p:spPr/>
        <p:txBody>
          <a:bodyPr/>
          <a:lstStyle/>
          <a:p>
            <a:r>
              <a:rPr lang="en-US" dirty="0"/>
              <a:t>Categorizing Phishing Domains</a:t>
            </a:r>
          </a:p>
        </p:txBody>
      </p:sp>
      <p:sp>
        <p:nvSpPr>
          <p:cNvPr id="3" name="Content Placeholder 2">
            <a:extLst>
              <a:ext uri="{FF2B5EF4-FFF2-40B4-BE49-F238E27FC236}">
                <a16:creationId xmlns:a16="http://schemas.microsoft.com/office/drawing/2014/main" xmlns="" id="{995A6BB3-8620-4CBC-9B1F-1F1EBAD81223}"/>
              </a:ext>
            </a:extLst>
          </p:cNvPr>
          <p:cNvSpPr>
            <a:spLocks noGrp="1"/>
          </p:cNvSpPr>
          <p:nvPr>
            <p:ph idx="1"/>
          </p:nvPr>
        </p:nvSpPr>
        <p:spPr>
          <a:xfrm>
            <a:off x="477640" y="1411342"/>
            <a:ext cx="11236720" cy="4794737"/>
          </a:xfrm>
        </p:spPr>
        <p:txBody>
          <a:bodyPr/>
          <a:lstStyle/>
          <a:p>
            <a:r>
              <a:rPr lang="en-US" dirty="0"/>
              <a:t>Phishing domains widely used by APT groups and criminal actors</a:t>
            </a:r>
          </a:p>
          <a:p>
            <a:pPr lvl="1"/>
            <a:r>
              <a:rPr lang="en-US" dirty="0"/>
              <a:t>Goal: Obtain usernames, passwords, credit card information, etc.</a:t>
            </a:r>
          </a:p>
          <a:p>
            <a:r>
              <a:rPr lang="en-US" dirty="0"/>
              <a:t>Disguised in content that looks identical or nearly-identical to legitimate service or web site</a:t>
            </a:r>
          </a:p>
          <a:p>
            <a:pPr lvl="1"/>
            <a:r>
              <a:rPr lang="en-US" dirty="0"/>
              <a:t>Domain name itself can be helpful in distinguishing </a:t>
            </a:r>
          </a:p>
          <a:p>
            <a:r>
              <a:rPr lang="en-US" dirty="0"/>
              <a:t>Scope of our work: Detect phishing domains from legitimate domains using only the domain name</a:t>
            </a:r>
          </a:p>
          <a:p>
            <a:endParaRPr lang="en-US" dirty="0"/>
          </a:p>
          <a:p>
            <a:endParaRPr lang="en-US" dirty="0"/>
          </a:p>
          <a:p>
            <a:endParaRPr lang="en-US" dirty="0"/>
          </a:p>
          <a:p>
            <a:r>
              <a:rPr lang="en-US" dirty="0"/>
              <a:t>Example Phishing Domains</a:t>
            </a:r>
          </a:p>
          <a:p>
            <a:pPr marL="382170" lvl="1" indent="0">
              <a:buNone/>
            </a:pPr>
            <a:r>
              <a:rPr lang="en-US" sz="2200" dirty="0"/>
              <a:t>- amazon[.]co[.]</a:t>
            </a:r>
            <a:r>
              <a:rPr lang="en-US" sz="2200" dirty="0" err="1"/>
              <a:t>uk</a:t>
            </a:r>
            <a:r>
              <a:rPr lang="en-US" sz="2200" dirty="0"/>
              <a:t>[.]security-check[.]</a:t>
            </a:r>
            <a:r>
              <a:rPr lang="en-US" sz="2200" dirty="0" err="1"/>
              <a:t>ga</a:t>
            </a:r>
            <a:r>
              <a:rPr lang="en-US" sz="2200" dirty="0"/>
              <a:t>, update-apple[.]com[.]</a:t>
            </a:r>
            <a:r>
              <a:rPr lang="en-US" sz="2200" dirty="0" err="1"/>
              <a:t>nbetawihosting</a:t>
            </a:r>
            <a:r>
              <a:rPr lang="en-US" sz="2200" dirty="0"/>
              <a:t>[.]net</a:t>
            </a:r>
          </a:p>
          <a:p>
            <a:pPr marL="0" indent="0">
              <a:buNone/>
            </a:pPr>
            <a:endParaRPr lang="en-US" dirty="0"/>
          </a:p>
        </p:txBody>
      </p:sp>
      <p:sp>
        <p:nvSpPr>
          <p:cNvPr id="4" name="Footer Placeholder 3">
            <a:extLst>
              <a:ext uri="{FF2B5EF4-FFF2-40B4-BE49-F238E27FC236}">
                <a16:creationId xmlns:a16="http://schemas.microsoft.com/office/drawing/2014/main" xmlns="" id="{FC43A2E1-31AC-45A2-8A5A-7D403F5FC483}"/>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a:t>
            </a:r>
            <a:r>
              <a:rPr lang="en-US" dirty="0">
                <a:latin typeface="Calibri" panose="020F0502020204030204" pitchFamily="34" charset="0"/>
                <a:cs typeface="Calibri" panose="020F0502020204030204" pitchFamily="34" charset="0"/>
              </a:rPr>
              <a:t> 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
        <p:nvSpPr>
          <p:cNvPr id="5" name="Oval 4">
            <a:extLst>
              <a:ext uri="{FF2B5EF4-FFF2-40B4-BE49-F238E27FC236}">
                <a16:creationId xmlns:a16="http://schemas.microsoft.com/office/drawing/2014/main" xmlns="" id="{5DE8190F-24FD-CC42-B482-65CDE40BB27B}"/>
              </a:ext>
            </a:extLst>
          </p:cNvPr>
          <p:cNvSpPr/>
          <p:nvPr/>
        </p:nvSpPr>
        <p:spPr>
          <a:xfrm>
            <a:off x="4956586" y="4142942"/>
            <a:ext cx="2001283" cy="1303716"/>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2400" dirty="0">
                <a:solidFill>
                  <a:schemeClr val="tx1"/>
                </a:solidFill>
              </a:rPr>
              <a:t>Classifier</a:t>
            </a:r>
          </a:p>
        </p:txBody>
      </p:sp>
      <p:sp>
        <p:nvSpPr>
          <p:cNvPr id="6" name="TextBox 5">
            <a:extLst>
              <a:ext uri="{FF2B5EF4-FFF2-40B4-BE49-F238E27FC236}">
                <a16:creationId xmlns:a16="http://schemas.microsoft.com/office/drawing/2014/main" xmlns="" id="{6A2FD03F-754B-8042-99DB-B4F879FAF7CC}"/>
              </a:ext>
            </a:extLst>
          </p:cNvPr>
          <p:cNvSpPr txBox="1"/>
          <p:nvPr/>
        </p:nvSpPr>
        <p:spPr>
          <a:xfrm>
            <a:off x="1603377" y="4563967"/>
            <a:ext cx="2352567" cy="461665"/>
          </a:xfrm>
          <a:prstGeom prst="rect">
            <a:avLst/>
          </a:prstGeom>
          <a:noFill/>
          <a:ln>
            <a:solidFill>
              <a:schemeClr val="tx1"/>
            </a:solidFill>
          </a:ln>
        </p:spPr>
        <p:txBody>
          <a:bodyPr wrap="none" rtlCol="0">
            <a:spAutoFit/>
          </a:bodyPr>
          <a:lstStyle/>
          <a:p>
            <a:r>
              <a:rPr lang="en-US" sz="2400" dirty="0" err="1"/>
              <a:t>www.google.com</a:t>
            </a:r>
            <a:endParaRPr lang="en-US" sz="2400" dirty="0"/>
          </a:p>
        </p:txBody>
      </p:sp>
      <p:sp>
        <p:nvSpPr>
          <p:cNvPr id="7" name="TextBox 6">
            <a:extLst>
              <a:ext uri="{FF2B5EF4-FFF2-40B4-BE49-F238E27FC236}">
                <a16:creationId xmlns:a16="http://schemas.microsoft.com/office/drawing/2014/main" xmlns="" id="{B7488F48-1193-5A44-AF2C-01FFA09EF241}"/>
              </a:ext>
            </a:extLst>
          </p:cNvPr>
          <p:cNvSpPr txBox="1"/>
          <p:nvPr/>
        </p:nvSpPr>
        <p:spPr>
          <a:xfrm>
            <a:off x="8482171" y="4144831"/>
            <a:ext cx="1043876" cy="461665"/>
          </a:xfrm>
          <a:prstGeom prst="rect">
            <a:avLst/>
          </a:prstGeom>
          <a:noFill/>
          <a:ln>
            <a:solidFill>
              <a:schemeClr val="tx1"/>
            </a:solidFill>
          </a:ln>
        </p:spPr>
        <p:txBody>
          <a:bodyPr wrap="none" rtlCol="0">
            <a:spAutoFit/>
          </a:bodyPr>
          <a:lstStyle/>
          <a:p>
            <a:r>
              <a:rPr lang="en-US" sz="2400" dirty="0"/>
              <a:t>Benign</a:t>
            </a:r>
          </a:p>
        </p:txBody>
      </p:sp>
      <p:sp>
        <p:nvSpPr>
          <p:cNvPr id="8" name="TextBox 7">
            <a:extLst>
              <a:ext uri="{FF2B5EF4-FFF2-40B4-BE49-F238E27FC236}">
                <a16:creationId xmlns:a16="http://schemas.microsoft.com/office/drawing/2014/main" xmlns="" id="{E6F10500-DA89-2140-9350-DAE628CD006E}"/>
              </a:ext>
            </a:extLst>
          </p:cNvPr>
          <p:cNvSpPr txBox="1"/>
          <p:nvPr/>
        </p:nvSpPr>
        <p:spPr>
          <a:xfrm>
            <a:off x="8145541" y="4984993"/>
            <a:ext cx="1380506" cy="461665"/>
          </a:xfrm>
          <a:prstGeom prst="rect">
            <a:avLst/>
          </a:prstGeom>
          <a:noFill/>
          <a:ln>
            <a:solidFill>
              <a:schemeClr val="tx1"/>
            </a:solidFill>
          </a:ln>
        </p:spPr>
        <p:txBody>
          <a:bodyPr wrap="none" rtlCol="0">
            <a:spAutoFit/>
          </a:bodyPr>
          <a:lstStyle/>
          <a:p>
            <a:r>
              <a:rPr lang="en-US" sz="2400" dirty="0"/>
              <a:t>Malicious</a:t>
            </a:r>
          </a:p>
        </p:txBody>
      </p:sp>
      <p:cxnSp>
        <p:nvCxnSpPr>
          <p:cNvPr id="10" name="Straight Arrow Connector 9">
            <a:extLst>
              <a:ext uri="{FF2B5EF4-FFF2-40B4-BE49-F238E27FC236}">
                <a16:creationId xmlns:a16="http://schemas.microsoft.com/office/drawing/2014/main" xmlns="" id="{5CFEC920-3B67-3A45-AC37-D6FF9DBC2CDE}"/>
              </a:ext>
            </a:extLst>
          </p:cNvPr>
          <p:cNvCxnSpPr>
            <a:cxnSpLocks/>
            <a:stCxn id="6" idx="3"/>
            <a:endCxn id="5" idx="2"/>
          </p:cNvCxnSpPr>
          <p:nvPr/>
        </p:nvCxnSpPr>
        <p:spPr>
          <a:xfrm>
            <a:off x="3955944" y="4794800"/>
            <a:ext cx="10006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4C0F33FC-39D8-0241-AD59-17FF9BA8D882}"/>
              </a:ext>
            </a:extLst>
          </p:cNvPr>
          <p:cNvCxnSpPr>
            <a:cxnSpLocks/>
            <a:stCxn id="5" idx="6"/>
            <a:endCxn id="7" idx="1"/>
          </p:cNvCxnSpPr>
          <p:nvPr/>
        </p:nvCxnSpPr>
        <p:spPr>
          <a:xfrm flipV="1">
            <a:off x="6957869" y="4375664"/>
            <a:ext cx="1524302" cy="4191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19E27A7A-D590-914C-B44E-C8B39799F4B0}"/>
              </a:ext>
            </a:extLst>
          </p:cNvPr>
          <p:cNvCxnSpPr>
            <a:cxnSpLocks/>
            <a:stCxn id="5" idx="6"/>
            <a:endCxn id="8" idx="1"/>
          </p:cNvCxnSpPr>
          <p:nvPr/>
        </p:nvCxnSpPr>
        <p:spPr>
          <a:xfrm>
            <a:off x="6957869" y="4794800"/>
            <a:ext cx="1187672" cy="421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083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8A102F-6771-4668-9390-B0E5D3A9EE6B}"/>
              </a:ext>
            </a:extLst>
          </p:cNvPr>
          <p:cNvSpPr>
            <a:spLocks noGrp="1"/>
          </p:cNvSpPr>
          <p:nvPr>
            <p:ph type="title"/>
          </p:nvPr>
        </p:nvSpPr>
        <p:spPr/>
        <p:txBody>
          <a:bodyPr/>
          <a:lstStyle/>
          <a:p>
            <a:r>
              <a:rPr lang="en-US" dirty="0"/>
              <a:t>Adversarial Machine Learning</a:t>
            </a:r>
          </a:p>
        </p:txBody>
      </p:sp>
      <p:sp>
        <p:nvSpPr>
          <p:cNvPr id="3" name="Content Placeholder 2">
            <a:extLst>
              <a:ext uri="{FF2B5EF4-FFF2-40B4-BE49-F238E27FC236}">
                <a16:creationId xmlns:a16="http://schemas.microsoft.com/office/drawing/2014/main" xmlns="" id="{5A8F26E6-E54E-4209-A7FD-8982EC47AFFB}"/>
              </a:ext>
            </a:extLst>
          </p:cNvPr>
          <p:cNvSpPr>
            <a:spLocks noGrp="1"/>
          </p:cNvSpPr>
          <p:nvPr>
            <p:ph idx="1"/>
          </p:nvPr>
        </p:nvSpPr>
        <p:spPr>
          <a:xfrm>
            <a:off x="616449" y="1371601"/>
            <a:ext cx="11236720" cy="4883284"/>
          </a:xfrm>
        </p:spPr>
        <p:txBody>
          <a:bodyPr/>
          <a:lstStyle/>
          <a:p>
            <a:pPr marL="4223" indent="0">
              <a:buNone/>
            </a:pPr>
            <a:r>
              <a:rPr lang="en-US" dirty="0"/>
              <a:t>            </a:t>
            </a:r>
            <a:r>
              <a:rPr lang="en-US" sz="2800" dirty="0"/>
              <a:t>Evasion Attack</a:t>
            </a:r>
          </a:p>
          <a:p>
            <a:pPr marL="4223" indent="0">
              <a:buNone/>
            </a:pPr>
            <a:endParaRPr lang="en-US" dirty="0"/>
          </a:p>
          <a:p>
            <a:pPr marL="347123" indent="-342900"/>
            <a:endParaRPr lang="en-US" sz="2200" dirty="0"/>
          </a:p>
          <a:p>
            <a:pPr marL="4223" indent="0">
              <a:buNone/>
            </a:pPr>
            <a:endParaRPr lang="en-US" dirty="0"/>
          </a:p>
          <a:p>
            <a:pPr marL="4223" indent="0">
              <a:buNone/>
            </a:pPr>
            <a:endParaRPr lang="en-US" dirty="0"/>
          </a:p>
          <a:p>
            <a:pPr marL="347123" indent="-342900"/>
            <a:endParaRPr lang="en-US" dirty="0"/>
          </a:p>
          <a:p>
            <a:pPr marL="4223" indent="0" algn="ctr">
              <a:buNone/>
            </a:pPr>
            <a:endParaRPr lang="en-US" sz="1200" b="0" i="1" dirty="0">
              <a:hlinkClick r:id="rId2"/>
            </a:endParaRPr>
          </a:p>
          <a:p>
            <a:pPr marL="4223" indent="0">
              <a:buNone/>
            </a:pPr>
            <a:r>
              <a:rPr lang="en-US" sz="1200" b="0" i="1" dirty="0"/>
              <a:t>           </a:t>
            </a:r>
          </a:p>
          <a:p>
            <a:pPr marL="4223" indent="0">
              <a:buNone/>
            </a:pPr>
            <a:endParaRPr lang="en-US" sz="1200" b="0" i="1" dirty="0"/>
          </a:p>
          <a:p>
            <a:pPr marL="4223" indent="0">
              <a:buNone/>
            </a:pPr>
            <a:endParaRPr lang="en-US" sz="1200" b="0" i="1" dirty="0"/>
          </a:p>
          <a:p>
            <a:pPr marL="4223" indent="0">
              <a:buNone/>
            </a:pPr>
            <a:endParaRPr lang="en-US" sz="2100" dirty="0"/>
          </a:p>
          <a:p>
            <a:pPr marL="4223" indent="0" algn="ctr">
              <a:buNone/>
            </a:pPr>
            <a:r>
              <a:rPr lang="en-US" b="0" dirty="0"/>
              <a:t>How can we build a robust machine learning model to detect phishing domains and overcome these evasion attacks?</a:t>
            </a:r>
          </a:p>
        </p:txBody>
      </p:sp>
      <p:sp>
        <p:nvSpPr>
          <p:cNvPr id="4" name="Footer Placeholder 3">
            <a:extLst>
              <a:ext uri="{FF2B5EF4-FFF2-40B4-BE49-F238E27FC236}">
                <a16:creationId xmlns:a16="http://schemas.microsoft.com/office/drawing/2014/main" xmlns="" id="{E7D47260-D3C5-4205-96DE-B69C36A874A9}"/>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pic>
        <p:nvPicPr>
          <p:cNvPr id="6" name="Picture 5">
            <a:extLst>
              <a:ext uri="{FF2B5EF4-FFF2-40B4-BE49-F238E27FC236}">
                <a16:creationId xmlns:a16="http://schemas.microsoft.com/office/drawing/2014/main" xmlns="" id="{6C792ABB-C3EE-6944-B17E-742D2CDF5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448" y="1946207"/>
            <a:ext cx="5576199" cy="2195354"/>
          </a:xfrm>
          <a:prstGeom prst="rect">
            <a:avLst/>
          </a:prstGeom>
        </p:spPr>
      </p:pic>
      <p:pic>
        <p:nvPicPr>
          <p:cNvPr id="7" name="Picture 6">
            <a:extLst>
              <a:ext uri="{FF2B5EF4-FFF2-40B4-BE49-F238E27FC236}">
                <a16:creationId xmlns:a16="http://schemas.microsoft.com/office/drawing/2014/main" xmlns="" id="{40EA9734-87E5-4481-8DF7-FD2C66B3D67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xmlns="" r:id="rId5"/>
              </a:ext>
            </a:extLst>
          </a:blip>
          <a:stretch>
            <a:fillRect/>
          </a:stretch>
        </p:blipFill>
        <p:spPr>
          <a:xfrm>
            <a:off x="7611369" y="1759884"/>
            <a:ext cx="4241800" cy="2381250"/>
          </a:xfrm>
          <a:prstGeom prst="rect">
            <a:avLst/>
          </a:prstGeom>
        </p:spPr>
      </p:pic>
      <p:sp>
        <p:nvSpPr>
          <p:cNvPr id="9" name="TextBox 8">
            <a:extLst>
              <a:ext uri="{FF2B5EF4-FFF2-40B4-BE49-F238E27FC236}">
                <a16:creationId xmlns:a16="http://schemas.microsoft.com/office/drawing/2014/main" xmlns="" id="{7B044CB3-6FC1-4F71-8FF9-A0DE9F2D1452}"/>
              </a:ext>
            </a:extLst>
          </p:cNvPr>
          <p:cNvSpPr txBox="1"/>
          <p:nvPr/>
        </p:nvSpPr>
        <p:spPr>
          <a:xfrm>
            <a:off x="8153400" y="4659085"/>
            <a:ext cx="2979057" cy="235368"/>
          </a:xfrm>
          <a:prstGeom prst="rect">
            <a:avLst/>
          </a:prstGeom>
          <a:noFill/>
        </p:spPr>
        <p:txBody>
          <a:bodyPr wrap="square" rtlCol="0">
            <a:spAutoFit/>
          </a:bodyPr>
          <a:lstStyle/>
          <a:p>
            <a:r>
              <a:rPr lang="en-US" sz="900" dirty="0">
                <a:hlinkClick r:id="rId5" tooltip="http://theconversation.com/gibbon-song-may-be-music-to-the-ears-of-human-language-students-9528"/>
              </a:rPr>
              <a:t>This Photo</a:t>
            </a:r>
            <a:r>
              <a:rPr lang="en-US" sz="900" dirty="0"/>
              <a:t> by Unknown Author is licensed under </a:t>
            </a:r>
            <a:r>
              <a:rPr lang="en-US" sz="900" dirty="0">
                <a:hlinkClick r:id="rId6" tooltip="https://creativecommons.org/licenses/by-nd/3.0/"/>
              </a:rPr>
              <a:t>CC BY-ND</a:t>
            </a:r>
            <a:endParaRPr lang="en-US" sz="900" dirty="0"/>
          </a:p>
        </p:txBody>
      </p:sp>
      <p:sp>
        <p:nvSpPr>
          <p:cNvPr id="10" name="TextBox 9">
            <a:extLst>
              <a:ext uri="{FF2B5EF4-FFF2-40B4-BE49-F238E27FC236}">
                <a16:creationId xmlns:a16="http://schemas.microsoft.com/office/drawing/2014/main" xmlns="" id="{BDB8DB0B-21F9-48E5-81FF-A43148654D48}"/>
              </a:ext>
            </a:extLst>
          </p:cNvPr>
          <p:cNvSpPr txBox="1"/>
          <p:nvPr/>
        </p:nvSpPr>
        <p:spPr>
          <a:xfrm>
            <a:off x="616448" y="4228726"/>
            <a:ext cx="5218295" cy="646331"/>
          </a:xfrm>
          <a:prstGeom prst="rect">
            <a:avLst/>
          </a:prstGeom>
          <a:noFill/>
        </p:spPr>
        <p:txBody>
          <a:bodyPr wrap="square" rtlCol="0">
            <a:spAutoFit/>
          </a:bodyPr>
          <a:lstStyle/>
          <a:p>
            <a:r>
              <a:rPr lang="en-US" dirty="0"/>
              <a:t>“Explaining and Harnessing Adversarial Examples”</a:t>
            </a:r>
          </a:p>
          <a:p>
            <a:r>
              <a:rPr lang="en-US" dirty="0">
                <a:hlinkClick r:id="rId2"/>
              </a:rPr>
              <a:t>https://arxiv.org/abs/1412.6572</a:t>
            </a:r>
            <a:r>
              <a:rPr lang="en-US" dirty="0"/>
              <a:t> </a:t>
            </a:r>
          </a:p>
        </p:txBody>
      </p:sp>
      <p:sp>
        <p:nvSpPr>
          <p:cNvPr id="12" name="TextBox 11">
            <a:extLst>
              <a:ext uri="{FF2B5EF4-FFF2-40B4-BE49-F238E27FC236}">
                <a16:creationId xmlns:a16="http://schemas.microsoft.com/office/drawing/2014/main" xmlns="" id="{84F3592A-4E31-40B6-80FD-DA5A17BC2FA9}"/>
              </a:ext>
            </a:extLst>
          </p:cNvPr>
          <p:cNvSpPr txBox="1"/>
          <p:nvPr/>
        </p:nvSpPr>
        <p:spPr>
          <a:xfrm>
            <a:off x="8256847" y="4228726"/>
            <a:ext cx="3607208" cy="369332"/>
          </a:xfrm>
          <a:prstGeom prst="rect">
            <a:avLst/>
          </a:prstGeom>
          <a:noFill/>
        </p:spPr>
        <p:txBody>
          <a:bodyPr wrap="square" rtlCol="0">
            <a:spAutoFit/>
          </a:bodyPr>
          <a:lstStyle/>
          <a:p>
            <a:r>
              <a:rPr lang="en-US" dirty="0"/>
              <a:t>Actual unimpressed gibbon</a:t>
            </a:r>
          </a:p>
        </p:txBody>
      </p:sp>
    </p:spTree>
    <p:extLst>
      <p:ext uri="{BB962C8B-B14F-4D97-AF65-F5344CB8AC3E}">
        <p14:creationId xmlns:p14="http://schemas.microsoft.com/office/powerpoint/2010/main" val="265748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725FE8-2F33-4D50-8AED-C56B73766475}"/>
              </a:ext>
            </a:extLst>
          </p:cNvPr>
          <p:cNvSpPr>
            <a:spLocks noGrp="1"/>
          </p:cNvSpPr>
          <p:nvPr>
            <p:ph type="title"/>
          </p:nvPr>
        </p:nvSpPr>
        <p:spPr/>
        <p:txBody>
          <a:bodyPr/>
          <a:lstStyle/>
          <a:p>
            <a:r>
              <a:rPr lang="en-US" dirty="0"/>
              <a:t>Generative Adversarial Machine Learning</a:t>
            </a:r>
          </a:p>
        </p:txBody>
      </p:sp>
      <p:sp>
        <p:nvSpPr>
          <p:cNvPr id="3" name="Content Placeholder 2">
            <a:extLst>
              <a:ext uri="{FF2B5EF4-FFF2-40B4-BE49-F238E27FC236}">
                <a16:creationId xmlns:a16="http://schemas.microsoft.com/office/drawing/2014/main" xmlns="" id="{0A53841C-C6E4-4FFF-BAE6-A598C212031A}"/>
              </a:ext>
            </a:extLst>
          </p:cNvPr>
          <p:cNvSpPr>
            <a:spLocks noGrp="1"/>
          </p:cNvSpPr>
          <p:nvPr>
            <p:ph idx="1"/>
          </p:nvPr>
        </p:nvSpPr>
        <p:spPr>
          <a:xfrm>
            <a:off x="616449" y="1371601"/>
            <a:ext cx="11236720" cy="5120639"/>
          </a:xfrm>
        </p:spPr>
        <p:txBody>
          <a:bodyPr/>
          <a:lstStyle/>
          <a:p>
            <a:r>
              <a:rPr lang="en-US" dirty="0"/>
              <a:t>Generative Adversarial Network (GAN)</a:t>
            </a:r>
          </a:p>
          <a:p>
            <a:pPr lvl="1"/>
            <a:r>
              <a:rPr lang="en-US" sz="2200" dirty="0"/>
              <a:t>Two neural networks contesting with each other in zero-sum game</a:t>
            </a:r>
          </a:p>
          <a:p>
            <a:pPr marL="1147639" lvl="2" indent="-457200">
              <a:buFont typeface="+mj-lt"/>
              <a:buAutoNum type="arabicPeriod"/>
            </a:pPr>
            <a:r>
              <a:rPr lang="en-US" b="1" dirty="0"/>
              <a:t>Generator: </a:t>
            </a:r>
            <a:r>
              <a:rPr lang="en-US" dirty="0"/>
              <a:t>constructs candidates </a:t>
            </a:r>
          </a:p>
          <a:p>
            <a:pPr lvl="3"/>
            <a:r>
              <a:rPr lang="en-US" sz="1800" b="0" dirty="0"/>
              <a:t>Goal: Synthesize examples that appear to be from a desired distribution</a:t>
            </a:r>
          </a:p>
          <a:p>
            <a:pPr marL="1147639" lvl="2" indent="-457200">
              <a:buFont typeface="+mj-lt"/>
              <a:buAutoNum type="arabicPeriod"/>
            </a:pPr>
            <a:r>
              <a:rPr lang="en-US" b="1" dirty="0"/>
              <a:t>Discriminator: </a:t>
            </a:r>
            <a:r>
              <a:rPr lang="en-US" dirty="0"/>
              <a:t>evaluates candidates</a:t>
            </a:r>
          </a:p>
          <a:p>
            <a:pPr lvl="3"/>
            <a:r>
              <a:rPr lang="en-US" sz="1800" b="0" dirty="0"/>
              <a:t>Goal: Distinguish between synthetic samples and true population</a:t>
            </a:r>
            <a:endParaRPr lang="en-US" dirty="0"/>
          </a:p>
          <a:p>
            <a:pPr marL="0" indent="0">
              <a:buNone/>
            </a:pPr>
            <a:r>
              <a:rPr lang="en-US" dirty="0"/>
              <a:t>Idea: </a:t>
            </a:r>
          </a:p>
          <a:p>
            <a:pPr marL="0" indent="0">
              <a:buNone/>
            </a:pPr>
            <a:r>
              <a:rPr lang="en-US" b="0" dirty="0"/>
              <a:t>Use a GAN to develop synthetic ‘phishing’ domains (adversarial examples) and improve the strength of a machine learning classifier.</a:t>
            </a:r>
          </a:p>
          <a:p>
            <a:pPr marL="0" indent="0">
              <a:buNone/>
            </a:pPr>
            <a:endParaRPr lang="en-US" b="1" dirty="0"/>
          </a:p>
          <a:p>
            <a:pPr marL="0" indent="0">
              <a:buNone/>
            </a:pPr>
            <a:r>
              <a:rPr lang="en-US" b="1" dirty="0"/>
              <a:t>Hypothesis:</a:t>
            </a:r>
          </a:p>
          <a:p>
            <a:pPr marL="0" indent="0">
              <a:buNone/>
            </a:pPr>
            <a:r>
              <a:rPr lang="en-US" b="0" dirty="0"/>
              <a:t>A classifier trained against an augmented set of domains will perform better than a classifier trained without generated examples on the same test set.</a:t>
            </a:r>
          </a:p>
        </p:txBody>
      </p:sp>
      <p:sp>
        <p:nvSpPr>
          <p:cNvPr id="4" name="Footer Placeholder 3">
            <a:extLst>
              <a:ext uri="{FF2B5EF4-FFF2-40B4-BE49-F238E27FC236}">
                <a16:creationId xmlns:a16="http://schemas.microsoft.com/office/drawing/2014/main" xmlns="" id="{3E57550C-ED45-43D3-841C-A8DA19A04B6E}"/>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3134146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86CA93-4DEA-4924-992C-F36EB11D3CB8}"/>
              </a:ext>
            </a:extLst>
          </p:cNvPr>
          <p:cNvSpPr>
            <a:spLocks noGrp="1"/>
          </p:cNvSpPr>
          <p:nvPr>
            <p:ph type="title"/>
          </p:nvPr>
        </p:nvSpPr>
        <p:spPr/>
        <p:txBody>
          <a:bodyPr/>
          <a:lstStyle/>
          <a:p>
            <a:r>
              <a:rPr lang="en-US" dirty="0"/>
              <a:t>Datasets for Classifier &amp; GAN</a:t>
            </a:r>
          </a:p>
        </p:txBody>
      </p:sp>
      <p:sp>
        <p:nvSpPr>
          <p:cNvPr id="7" name="Content Placeholder 6">
            <a:extLst>
              <a:ext uri="{FF2B5EF4-FFF2-40B4-BE49-F238E27FC236}">
                <a16:creationId xmlns:a16="http://schemas.microsoft.com/office/drawing/2014/main" xmlns="" id="{FB01CFBC-77EB-41C5-81FE-58DC399E1387}"/>
              </a:ext>
            </a:extLst>
          </p:cNvPr>
          <p:cNvSpPr>
            <a:spLocks noGrp="1"/>
          </p:cNvSpPr>
          <p:nvPr>
            <p:ph idx="1"/>
          </p:nvPr>
        </p:nvSpPr>
        <p:spPr>
          <a:xfrm>
            <a:off x="616449" y="1371601"/>
            <a:ext cx="11236720" cy="4794737"/>
          </a:xfrm>
        </p:spPr>
        <p:txBody>
          <a:bodyPr/>
          <a:lstStyle/>
          <a:p>
            <a:r>
              <a:rPr lang="en-US" dirty="0"/>
              <a:t>Benign Data Sources</a:t>
            </a:r>
          </a:p>
          <a:p>
            <a:pPr lvl="1"/>
            <a:r>
              <a:rPr lang="en-US" sz="2200" dirty="0"/>
              <a:t>Alexa Top 1 Million (top 25K)</a:t>
            </a:r>
          </a:p>
          <a:p>
            <a:pPr lvl="1"/>
            <a:r>
              <a:rPr lang="en-US" sz="2200" dirty="0"/>
              <a:t>Umbrella Top 1 Million (top 25K)</a:t>
            </a:r>
          </a:p>
          <a:p>
            <a:pPr lvl="1"/>
            <a:r>
              <a:rPr lang="en-US" sz="2200" dirty="0"/>
              <a:t>OpenDNS Random 10K </a:t>
            </a:r>
          </a:p>
          <a:p>
            <a:pPr lvl="2"/>
            <a:endParaRPr lang="en-US" dirty="0"/>
          </a:p>
          <a:p>
            <a:r>
              <a:rPr lang="en-US" dirty="0"/>
              <a:t>Phishing Data Sources</a:t>
            </a:r>
          </a:p>
          <a:p>
            <a:pPr lvl="1"/>
            <a:r>
              <a:rPr lang="en-US" sz="2200" dirty="0" err="1"/>
              <a:t>OpenPhish</a:t>
            </a:r>
            <a:r>
              <a:rPr lang="en-US" sz="2200" dirty="0"/>
              <a:t> Threat Feed</a:t>
            </a:r>
          </a:p>
          <a:p>
            <a:pPr lvl="1"/>
            <a:r>
              <a:rPr lang="en-US" sz="2200" dirty="0" err="1"/>
              <a:t>PhishTank</a:t>
            </a:r>
            <a:r>
              <a:rPr lang="en-US" sz="2200" dirty="0"/>
              <a:t> Threat Feed</a:t>
            </a:r>
          </a:p>
          <a:p>
            <a:pPr lvl="1"/>
            <a:r>
              <a:rPr lang="en-US" sz="2200" dirty="0"/>
              <a:t>DNS-BH Threat Feed </a:t>
            </a:r>
          </a:p>
          <a:p>
            <a:pPr marL="382170" lvl="1" indent="0">
              <a:buNone/>
            </a:pPr>
            <a:r>
              <a:rPr lang="en-US" sz="2200" dirty="0"/>
              <a:t>    (phishing domains only)</a:t>
            </a:r>
          </a:p>
        </p:txBody>
      </p:sp>
      <p:sp>
        <p:nvSpPr>
          <p:cNvPr id="4" name="Footer Placeholder 3">
            <a:extLst>
              <a:ext uri="{FF2B5EF4-FFF2-40B4-BE49-F238E27FC236}">
                <a16:creationId xmlns:a16="http://schemas.microsoft.com/office/drawing/2014/main" xmlns="" id="{7F936E27-C8C2-4486-99C3-C3AAF0B4EAFE}"/>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graphicFrame>
        <p:nvGraphicFramePr>
          <p:cNvPr id="8" name="Table 7">
            <a:extLst>
              <a:ext uri="{FF2B5EF4-FFF2-40B4-BE49-F238E27FC236}">
                <a16:creationId xmlns:a16="http://schemas.microsoft.com/office/drawing/2014/main" xmlns="" id="{DFBDD266-4DE1-40D0-9DD4-98D0C970B5D0}"/>
              </a:ext>
            </a:extLst>
          </p:cNvPr>
          <p:cNvGraphicFramePr>
            <a:graphicFrameLocks noGrp="1"/>
          </p:cNvGraphicFramePr>
          <p:nvPr>
            <p:extLst>
              <p:ext uri="{D42A27DB-BD31-4B8C-83A1-F6EECF244321}">
                <p14:modId xmlns:p14="http://schemas.microsoft.com/office/powerpoint/2010/main" val="3318226962"/>
              </p:ext>
            </p:extLst>
          </p:nvPr>
        </p:nvGraphicFramePr>
        <p:xfrm>
          <a:off x="5502441" y="1716505"/>
          <a:ext cx="6350727" cy="3383492"/>
        </p:xfrm>
        <a:graphic>
          <a:graphicData uri="http://schemas.openxmlformats.org/drawingml/2006/table">
            <a:tbl>
              <a:tblPr firstRow="1" bandRow="1">
                <a:tableStyleId>{793D81CF-94F2-401A-BA57-92F5A7B2D0C5}</a:tableStyleId>
              </a:tblPr>
              <a:tblGrid>
                <a:gridCol w="1250775">
                  <a:extLst>
                    <a:ext uri="{9D8B030D-6E8A-4147-A177-3AD203B41FA5}">
                      <a16:colId xmlns:a16="http://schemas.microsoft.com/office/drawing/2014/main" xmlns="" val="3636874765"/>
                    </a:ext>
                  </a:extLst>
                </a:gridCol>
                <a:gridCol w="1924589">
                  <a:extLst>
                    <a:ext uri="{9D8B030D-6E8A-4147-A177-3AD203B41FA5}">
                      <a16:colId xmlns:a16="http://schemas.microsoft.com/office/drawing/2014/main" xmlns="" val="3934410265"/>
                    </a:ext>
                  </a:extLst>
                </a:gridCol>
                <a:gridCol w="1861545">
                  <a:extLst>
                    <a:ext uri="{9D8B030D-6E8A-4147-A177-3AD203B41FA5}">
                      <a16:colId xmlns:a16="http://schemas.microsoft.com/office/drawing/2014/main" xmlns="" val="1238552131"/>
                    </a:ext>
                  </a:extLst>
                </a:gridCol>
                <a:gridCol w="1313818">
                  <a:extLst>
                    <a:ext uri="{9D8B030D-6E8A-4147-A177-3AD203B41FA5}">
                      <a16:colId xmlns:a16="http://schemas.microsoft.com/office/drawing/2014/main" xmlns="" val="3118804476"/>
                    </a:ext>
                  </a:extLst>
                </a:gridCol>
              </a:tblGrid>
              <a:tr h="845873">
                <a:tc>
                  <a:txBody>
                    <a:bodyPr/>
                    <a:lstStyle/>
                    <a:p>
                      <a:endParaRPr lang="en-US" sz="2400" dirty="0">
                        <a:solidFill>
                          <a:schemeClr val="bg1"/>
                        </a:solidFill>
                      </a:endParaRPr>
                    </a:p>
                  </a:txBody>
                  <a:tcPr/>
                </a:tc>
                <a:tc>
                  <a:txBody>
                    <a:bodyPr/>
                    <a:lstStyle/>
                    <a:p>
                      <a:r>
                        <a:rPr lang="en-US" sz="2400" dirty="0"/>
                        <a:t>No. Training</a:t>
                      </a:r>
                      <a:endParaRPr lang="en-US" sz="2400" b="0" dirty="0">
                        <a:solidFill>
                          <a:schemeClr val="bg1"/>
                        </a:solidFill>
                      </a:endParaRPr>
                    </a:p>
                  </a:txBody>
                  <a:tcPr/>
                </a:tc>
                <a:tc>
                  <a:txBody>
                    <a:bodyPr/>
                    <a:lstStyle/>
                    <a:p>
                      <a:r>
                        <a:rPr lang="en-US" sz="2400" dirty="0"/>
                        <a:t>No. Testing</a:t>
                      </a:r>
                      <a:endParaRPr lang="en-US" sz="2400" b="0" dirty="0">
                        <a:solidFill>
                          <a:schemeClr val="bg1"/>
                        </a:solidFill>
                      </a:endParaRPr>
                    </a:p>
                  </a:txBody>
                  <a:tcPr/>
                </a:tc>
                <a:tc>
                  <a:txBody>
                    <a:bodyPr/>
                    <a:lstStyle/>
                    <a:p>
                      <a:r>
                        <a:rPr lang="en-US" sz="2400" dirty="0"/>
                        <a:t>Total</a:t>
                      </a:r>
                      <a:endParaRPr lang="en-US" sz="2400" b="0" dirty="0">
                        <a:solidFill>
                          <a:schemeClr val="bg1"/>
                        </a:solidFill>
                      </a:endParaRPr>
                    </a:p>
                  </a:txBody>
                  <a:tcPr/>
                </a:tc>
                <a:extLst>
                  <a:ext uri="{0D108BD9-81ED-4DB2-BD59-A6C34878D82A}">
                    <a16:rowId xmlns:a16="http://schemas.microsoft.com/office/drawing/2014/main" xmlns="" val="1095600593"/>
                  </a:ext>
                </a:extLst>
              </a:tr>
              <a:tr h="845873">
                <a:tc>
                  <a:txBody>
                    <a:bodyPr/>
                    <a:lstStyle/>
                    <a:p>
                      <a:r>
                        <a:rPr lang="en-US" sz="2400" dirty="0"/>
                        <a:t>Benign</a:t>
                      </a:r>
                      <a:endParaRPr lang="en-US" sz="2400" dirty="0">
                        <a:solidFill>
                          <a:sysClr val="windowText" lastClr="000000"/>
                        </a:solidFill>
                      </a:endParaRPr>
                    </a:p>
                  </a:txBody>
                  <a:tcPr/>
                </a:tc>
                <a:tc>
                  <a:txBody>
                    <a:bodyPr/>
                    <a:lstStyle/>
                    <a:p>
                      <a:r>
                        <a:rPr lang="en-US" sz="2400" dirty="0"/>
                        <a:t>51,951</a:t>
                      </a:r>
                      <a:endParaRPr lang="en-US" sz="2400" dirty="0">
                        <a:solidFill>
                          <a:sysClr val="windowText" lastClr="000000"/>
                        </a:solidFill>
                      </a:endParaRPr>
                    </a:p>
                  </a:txBody>
                  <a:tcPr/>
                </a:tc>
                <a:tc>
                  <a:txBody>
                    <a:bodyPr/>
                    <a:lstStyle/>
                    <a:p>
                      <a:r>
                        <a:rPr lang="en-US" sz="2400" dirty="0"/>
                        <a:t>12,988</a:t>
                      </a:r>
                      <a:endParaRPr lang="en-US" sz="2400" dirty="0">
                        <a:solidFill>
                          <a:sysClr val="windowText" lastClr="000000"/>
                        </a:solidFill>
                      </a:endParaRPr>
                    </a:p>
                  </a:txBody>
                  <a:tcPr/>
                </a:tc>
                <a:tc>
                  <a:txBody>
                    <a:bodyPr/>
                    <a:lstStyle/>
                    <a:p>
                      <a:r>
                        <a:rPr lang="en-US" sz="2400" dirty="0"/>
                        <a:t>64,939</a:t>
                      </a:r>
                      <a:endParaRPr lang="en-US" sz="2400" dirty="0">
                        <a:solidFill>
                          <a:sysClr val="windowText" lastClr="000000"/>
                        </a:solidFill>
                      </a:endParaRPr>
                    </a:p>
                  </a:txBody>
                  <a:tcPr/>
                </a:tc>
                <a:extLst>
                  <a:ext uri="{0D108BD9-81ED-4DB2-BD59-A6C34878D82A}">
                    <a16:rowId xmlns:a16="http://schemas.microsoft.com/office/drawing/2014/main" xmlns="" val="75353157"/>
                  </a:ext>
                </a:extLst>
              </a:tr>
              <a:tr h="845873">
                <a:tc>
                  <a:txBody>
                    <a:bodyPr/>
                    <a:lstStyle/>
                    <a:p>
                      <a:r>
                        <a:rPr lang="en-US" sz="2400" dirty="0"/>
                        <a:t>Phishing</a:t>
                      </a:r>
                      <a:endParaRPr lang="en-US" sz="2400" dirty="0">
                        <a:solidFill>
                          <a:sysClr val="windowText" lastClr="000000"/>
                        </a:solidFill>
                      </a:endParaRPr>
                    </a:p>
                  </a:txBody>
                  <a:tcPr/>
                </a:tc>
                <a:tc>
                  <a:txBody>
                    <a:bodyPr/>
                    <a:lstStyle/>
                    <a:p>
                      <a:r>
                        <a:rPr lang="en-US" sz="2400" dirty="0"/>
                        <a:t>42,834</a:t>
                      </a:r>
                      <a:endParaRPr lang="en-US" sz="2400" dirty="0">
                        <a:solidFill>
                          <a:sysClr val="windowText" lastClr="000000"/>
                        </a:solidFill>
                      </a:endParaRPr>
                    </a:p>
                  </a:txBody>
                  <a:tcPr/>
                </a:tc>
                <a:tc>
                  <a:txBody>
                    <a:bodyPr/>
                    <a:lstStyle/>
                    <a:p>
                      <a:r>
                        <a:rPr lang="en-US" sz="2400" dirty="0"/>
                        <a:t>10,709</a:t>
                      </a:r>
                      <a:endParaRPr lang="en-US" sz="2400" dirty="0">
                        <a:solidFill>
                          <a:sysClr val="windowText" lastClr="000000"/>
                        </a:solidFill>
                      </a:endParaRPr>
                    </a:p>
                  </a:txBody>
                  <a:tcPr/>
                </a:tc>
                <a:tc>
                  <a:txBody>
                    <a:bodyPr/>
                    <a:lstStyle/>
                    <a:p>
                      <a:r>
                        <a:rPr lang="en-US" sz="2400" dirty="0"/>
                        <a:t>53,543</a:t>
                      </a:r>
                      <a:endParaRPr lang="en-US" sz="2400" dirty="0">
                        <a:solidFill>
                          <a:sysClr val="windowText" lastClr="000000"/>
                        </a:solidFill>
                      </a:endParaRPr>
                    </a:p>
                  </a:txBody>
                  <a:tcPr/>
                </a:tc>
                <a:extLst>
                  <a:ext uri="{0D108BD9-81ED-4DB2-BD59-A6C34878D82A}">
                    <a16:rowId xmlns:a16="http://schemas.microsoft.com/office/drawing/2014/main" xmlns="" val="1064033446"/>
                  </a:ext>
                </a:extLst>
              </a:tr>
              <a:tr h="845873">
                <a:tc>
                  <a:txBody>
                    <a:bodyPr/>
                    <a:lstStyle/>
                    <a:p>
                      <a:r>
                        <a:rPr lang="en-US" sz="2400" dirty="0"/>
                        <a:t>Total</a:t>
                      </a:r>
                      <a:endParaRPr lang="en-US" sz="2400" dirty="0">
                        <a:solidFill>
                          <a:sysClr val="windowText" lastClr="000000"/>
                        </a:solidFill>
                      </a:endParaRPr>
                    </a:p>
                  </a:txBody>
                  <a:tcPr/>
                </a:tc>
                <a:tc>
                  <a:txBody>
                    <a:bodyPr/>
                    <a:lstStyle/>
                    <a:p>
                      <a:r>
                        <a:rPr lang="en-US" sz="2400" dirty="0"/>
                        <a:t>94,785</a:t>
                      </a:r>
                      <a:endParaRPr lang="en-US" sz="2400" dirty="0">
                        <a:solidFill>
                          <a:sysClr val="windowText" lastClr="000000"/>
                        </a:solidFill>
                      </a:endParaRPr>
                    </a:p>
                  </a:txBody>
                  <a:tcPr/>
                </a:tc>
                <a:tc>
                  <a:txBody>
                    <a:bodyPr/>
                    <a:lstStyle/>
                    <a:p>
                      <a:r>
                        <a:rPr lang="en-US" sz="2400" dirty="0"/>
                        <a:t>23,697</a:t>
                      </a:r>
                      <a:endParaRPr lang="en-US" sz="2400" dirty="0">
                        <a:solidFill>
                          <a:sysClr val="windowText" lastClr="000000"/>
                        </a:solidFill>
                      </a:endParaRPr>
                    </a:p>
                  </a:txBody>
                  <a:tcPr/>
                </a:tc>
                <a:tc>
                  <a:txBody>
                    <a:bodyPr/>
                    <a:lstStyle/>
                    <a:p>
                      <a:endParaRPr lang="en-US" sz="2400" dirty="0">
                        <a:solidFill>
                          <a:sysClr val="windowText" lastClr="000000"/>
                        </a:solidFill>
                      </a:endParaRPr>
                    </a:p>
                  </a:txBody>
                  <a:tcPr/>
                </a:tc>
                <a:extLst>
                  <a:ext uri="{0D108BD9-81ED-4DB2-BD59-A6C34878D82A}">
                    <a16:rowId xmlns:a16="http://schemas.microsoft.com/office/drawing/2014/main" xmlns="" val="887543335"/>
                  </a:ext>
                </a:extLst>
              </a:tr>
            </a:tbl>
          </a:graphicData>
        </a:graphic>
      </p:graphicFrame>
    </p:spTree>
    <p:extLst>
      <p:ext uri="{BB962C8B-B14F-4D97-AF65-F5344CB8AC3E}">
        <p14:creationId xmlns:p14="http://schemas.microsoft.com/office/powerpoint/2010/main" val="2917701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F9BAA6-90F7-4BE9-BA76-521479C8CDB3}"/>
              </a:ext>
            </a:extLst>
          </p:cNvPr>
          <p:cNvSpPr>
            <a:spLocks noGrp="1"/>
          </p:cNvSpPr>
          <p:nvPr>
            <p:ph type="title"/>
          </p:nvPr>
        </p:nvSpPr>
        <p:spPr/>
        <p:txBody>
          <a:bodyPr/>
          <a:lstStyle/>
          <a:p>
            <a:r>
              <a:rPr lang="en-US" dirty="0"/>
              <a:t>Initial Phishing Domain Classifier</a:t>
            </a:r>
          </a:p>
        </p:txBody>
      </p:sp>
      <p:sp>
        <p:nvSpPr>
          <p:cNvPr id="4" name="Footer Placeholder 3">
            <a:extLst>
              <a:ext uri="{FF2B5EF4-FFF2-40B4-BE49-F238E27FC236}">
                <a16:creationId xmlns:a16="http://schemas.microsoft.com/office/drawing/2014/main" xmlns="" id="{36C7629D-183E-4102-8642-D68647A3E23D}"/>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
        <p:nvSpPr>
          <p:cNvPr id="5" name="Content Placeholder 2">
            <a:extLst>
              <a:ext uri="{FF2B5EF4-FFF2-40B4-BE49-F238E27FC236}">
                <a16:creationId xmlns:a16="http://schemas.microsoft.com/office/drawing/2014/main" xmlns="" id="{84EA2604-B590-45D9-AAC8-D15FA440A9B0}"/>
              </a:ext>
            </a:extLst>
          </p:cNvPr>
          <p:cNvSpPr txBox="1">
            <a:spLocks/>
          </p:cNvSpPr>
          <p:nvPr/>
        </p:nvSpPr>
        <p:spPr>
          <a:xfrm>
            <a:off x="3513221" y="1371601"/>
            <a:ext cx="8339948"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Arial" pitchFamily="34" charset="0"/>
                <a:ea typeface="Verdana" pitchFamily="34" charset="0"/>
                <a:cs typeface="Arial"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Arial" pitchFamily="34" charset="0"/>
                <a:ea typeface="Verdana" pitchFamily="34" charset="0"/>
                <a:cs typeface="Arial"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000" kern="1200" smtClean="0">
                <a:solidFill>
                  <a:schemeClr val="tx1"/>
                </a:solidFill>
                <a:latin typeface="Arial" pitchFamily="34" charset="0"/>
                <a:ea typeface="Verdana" pitchFamily="34" charset="0"/>
                <a:cs typeface="Arial"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smtClean="0">
                <a:solidFill>
                  <a:schemeClr val="tx1"/>
                </a:solidFill>
                <a:latin typeface="Arial" pitchFamily="34" charset="0"/>
                <a:ea typeface="Verdana" pitchFamily="34" charset="0"/>
                <a:cs typeface="Arial"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Random Forest Classifier in Python 3 using sci-kit learn model </a:t>
            </a:r>
          </a:p>
          <a:p>
            <a:pPr lvl="1"/>
            <a:r>
              <a:rPr lang="en-US" dirty="0"/>
              <a:t>500 estimators</a:t>
            </a:r>
            <a:endParaRPr lang="en-US" dirty="0">
              <a:sym typeface="Wingdings" panose="05000000000000000000" pitchFamily="2" charset="2"/>
            </a:endParaRPr>
          </a:p>
          <a:p>
            <a:r>
              <a:rPr lang="en-US" dirty="0"/>
              <a:t>Final model score on test set: 81.74%</a:t>
            </a:r>
          </a:p>
          <a:p>
            <a:pPr lvl="2"/>
            <a:endParaRPr lang="en-US" dirty="0"/>
          </a:p>
          <a:p>
            <a:pPr lvl="2"/>
            <a:endParaRPr lang="en-US" dirty="0"/>
          </a:p>
          <a:p>
            <a:pPr lvl="2"/>
            <a:r>
              <a:rPr lang="en-US" dirty="0"/>
              <a:t>0 = benign</a:t>
            </a:r>
          </a:p>
          <a:p>
            <a:pPr lvl="2"/>
            <a:r>
              <a:rPr lang="en-US" dirty="0"/>
              <a:t>1 = phishing</a:t>
            </a:r>
          </a:p>
          <a:p>
            <a:endParaRPr lang="en-US" dirty="0"/>
          </a:p>
        </p:txBody>
      </p:sp>
      <p:pic>
        <p:nvPicPr>
          <p:cNvPr id="6" name="Picture 5">
            <a:extLst>
              <a:ext uri="{FF2B5EF4-FFF2-40B4-BE49-F238E27FC236}">
                <a16:creationId xmlns:a16="http://schemas.microsoft.com/office/drawing/2014/main" xmlns="" id="{720BD4E9-1568-4EDD-B3D9-960CEC152A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4866" y="2962122"/>
            <a:ext cx="4138303" cy="3530118"/>
          </a:xfrm>
          <a:prstGeom prst="rect">
            <a:avLst/>
          </a:prstGeom>
        </p:spPr>
      </p:pic>
      <p:pic>
        <p:nvPicPr>
          <p:cNvPr id="7" name="Picture 6">
            <a:extLst>
              <a:ext uri="{FF2B5EF4-FFF2-40B4-BE49-F238E27FC236}">
                <a16:creationId xmlns:a16="http://schemas.microsoft.com/office/drawing/2014/main" xmlns="" id="{908C32B8-8CF5-4499-B791-FFD4E61AE0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5019" y="4617167"/>
            <a:ext cx="3408176" cy="1549171"/>
          </a:xfrm>
          <a:prstGeom prst="rect">
            <a:avLst/>
          </a:prstGeom>
        </p:spPr>
      </p:pic>
      <p:graphicFrame>
        <p:nvGraphicFramePr>
          <p:cNvPr id="8" name="Table 7">
            <a:extLst>
              <a:ext uri="{FF2B5EF4-FFF2-40B4-BE49-F238E27FC236}">
                <a16:creationId xmlns:a16="http://schemas.microsoft.com/office/drawing/2014/main" xmlns="" id="{15CAA8C6-122E-4522-9C1E-EEE782787DAF}"/>
              </a:ext>
            </a:extLst>
          </p:cNvPr>
          <p:cNvGraphicFramePr>
            <a:graphicFrameLocks noGrp="1"/>
          </p:cNvGraphicFramePr>
          <p:nvPr>
            <p:extLst>
              <p:ext uri="{D42A27DB-BD31-4B8C-83A1-F6EECF244321}">
                <p14:modId xmlns:p14="http://schemas.microsoft.com/office/powerpoint/2010/main" val="2749114189"/>
              </p:ext>
            </p:extLst>
          </p:nvPr>
        </p:nvGraphicFramePr>
        <p:xfrm>
          <a:off x="616448" y="1357410"/>
          <a:ext cx="2896773" cy="4851872"/>
        </p:xfrm>
        <a:graphic>
          <a:graphicData uri="http://schemas.openxmlformats.org/drawingml/2006/table">
            <a:tbl>
              <a:tblPr firstRow="1" bandRow="1">
                <a:tableStyleId>{5C22544A-7EE6-4342-B048-85BDC9FD1C3A}</a:tableStyleId>
              </a:tblPr>
              <a:tblGrid>
                <a:gridCol w="2896773">
                  <a:extLst>
                    <a:ext uri="{9D8B030D-6E8A-4147-A177-3AD203B41FA5}">
                      <a16:colId xmlns:a16="http://schemas.microsoft.com/office/drawing/2014/main" xmlns="" val="2776778035"/>
                    </a:ext>
                  </a:extLst>
                </a:gridCol>
              </a:tblGrid>
              <a:tr h="801488">
                <a:tc>
                  <a:txBody>
                    <a:bodyPr/>
                    <a:lstStyle/>
                    <a:p>
                      <a:pPr algn="ctr"/>
                      <a:r>
                        <a:rPr lang="en-US" sz="2400" dirty="0">
                          <a:solidFill>
                            <a:schemeClr val="bg1"/>
                          </a:solidFill>
                        </a:rPr>
                        <a:t>Features Used</a:t>
                      </a:r>
                      <a:endParaRPr lang="en-US" sz="2400" b="0"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xmlns="" val="3543460817"/>
                  </a:ext>
                </a:extLst>
              </a:tr>
              <a:tr h="801488">
                <a:tc>
                  <a:txBody>
                    <a:bodyPr/>
                    <a:lstStyle/>
                    <a:p>
                      <a:pPr algn="ctr"/>
                      <a:r>
                        <a:rPr lang="en-US" sz="2400" dirty="0"/>
                        <a:t>Length of domain</a:t>
                      </a:r>
                    </a:p>
                  </a:txBody>
                  <a:tcPr anchor="ctr">
                    <a:solidFill>
                      <a:schemeClr val="bg1">
                        <a:lumMod val="95000"/>
                      </a:schemeClr>
                    </a:solidFill>
                  </a:tcPr>
                </a:tc>
                <a:extLst>
                  <a:ext uri="{0D108BD9-81ED-4DB2-BD59-A6C34878D82A}">
                    <a16:rowId xmlns:a16="http://schemas.microsoft.com/office/drawing/2014/main" xmlns="" val="1455451904"/>
                  </a:ext>
                </a:extLst>
              </a:tr>
              <a:tr h="801488">
                <a:tc>
                  <a:txBody>
                    <a:bodyPr/>
                    <a:lstStyle/>
                    <a:p>
                      <a:pPr algn="ctr"/>
                      <a:r>
                        <a:rPr lang="en-US" sz="2400" dirty="0"/>
                        <a:t>Number of subdomains</a:t>
                      </a:r>
                    </a:p>
                  </a:txBody>
                  <a:tcPr anchor="ctr">
                    <a:solidFill>
                      <a:schemeClr val="bg1">
                        <a:lumMod val="85000"/>
                      </a:schemeClr>
                    </a:solidFill>
                  </a:tcPr>
                </a:tc>
                <a:extLst>
                  <a:ext uri="{0D108BD9-81ED-4DB2-BD59-A6C34878D82A}">
                    <a16:rowId xmlns:a16="http://schemas.microsoft.com/office/drawing/2014/main" xmlns="" val="1674779163"/>
                  </a:ext>
                </a:extLst>
              </a:tr>
              <a:tr h="801488">
                <a:tc>
                  <a:txBody>
                    <a:bodyPr/>
                    <a:lstStyle/>
                    <a:p>
                      <a:pPr algn="ctr"/>
                      <a:r>
                        <a:rPr lang="en-US" sz="2400" dirty="0"/>
                        <a:t>Has ‘-’ in domain</a:t>
                      </a:r>
                    </a:p>
                  </a:txBody>
                  <a:tcPr anchor="ctr">
                    <a:solidFill>
                      <a:schemeClr val="bg1">
                        <a:lumMod val="95000"/>
                      </a:schemeClr>
                    </a:solidFill>
                  </a:tcPr>
                </a:tc>
                <a:extLst>
                  <a:ext uri="{0D108BD9-81ED-4DB2-BD59-A6C34878D82A}">
                    <a16:rowId xmlns:a16="http://schemas.microsoft.com/office/drawing/2014/main" xmlns="" val="908557892"/>
                  </a:ext>
                </a:extLst>
              </a:tr>
              <a:tr h="801488">
                <a:tc>
                  <a:txBody>
                    <a:bodyPr/>
                    <a:lstStyle/>
                    <a:p>
                      <a:pPr algn="ctr"/>
                      <a:r>
                        <a:rPr lang="en-US" sz="2400" dirty="0"/>
                        <a:t>Term/stem frequency count</a:t>
                      </a:r>
                    </a:p>
                  </a:txBody>
                  <a:tcPr anchor="ctr">
                    <a:solidFill>
                      <a:schemeClr val="bg1">
                        <a:lumMod val="85000"/>
                      </a:schemeClr>
                    </a:solidFill>
                  </a:tcPr>
                </a:tc>
                <a:extLst>
                  <a:ext uri="{0D108BD9-81ED-4DB2-BD59-A6C34878D82A}">
                    <a16:rowId xmlns:a16="http://schemas.microsoft.com/office/drawing/2014/main" xmlns="" val="1221866959"/>
                  </a:ext>
                </a:extLst>
              </a:tr>
              <a:tr h="801488">
                <a:tc>
                  <a:txBody>
                    <a:bodyPr/>
                    <a:lstStyle/>
                    <a:p>
                      <a:pPr algn="ctr"/>
                      <a:r>
                        <a:rPr lang="en-US" sz="2400" dirty="0" err="1"/>
                        <a:t>Ngram</a:t>
                      </a:r>
                      <a:r>
                        <a:rPr lang="en-US" sz="2400" dirty="0"/>
                        <a:t> counts</a:t>
                      </a:r>
                    </a:p>
                  </a:txBody>
                  <a:tcPr anchor="ctr">
                    <a:solidFill>
                      <a:schemeClr val="bg1">
                        <a:lumMod val="95000"/>
                      </a:schemeClr>
                    </a:solidFill>
                  </a:tcPr>
                </a:tc>
                <a:extLst>
                  <a:ext uri="{0D108BD9-81ED-4DB2-BD59-A6C34878D82A}">
                    <a16:rowId xmlns:a16="http://schemas.microsoft.com/office/drawing/2014/main" xmlns="" val="681983621"/>
                  </a:ext>
                </a:extLst>
              </a:tr>
            </a:tbl>
          </a:graphicData>
        </a:graphic>
      </p:graphicFrame>
    </p:spTree>
    <p:extLst>
      <p:ext uri="{BB962C8B-B14F-4D97-AF65-F5344CB8AC3E}">
        <p14:creationId xmlns:p14="http://schemas.microsoft.com/office/powerpoint/2010/main" val="953445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EA05B0-5152-407F-978C-6E488507F206}"/>
              </a:ext>
            </a:extLst>
          </p:cNvPr>
          <p:cNvSpPr>
            <a:spLocks noGrp="1"/>
          </p:cNvSpPr>
          <p:nvPr>
            <p:ph type="title"/>
          </p:nvPr>
        </p:nvSpPr>
        <p:spPr/>
        <p:txBody>
          <a:bodyPr/>
          <a:lstStyle/>
          <a:p>
            <a:r>
              <a:rPr lang="en-US" dirty="0"/>
              <a:t>GAN Choice: Adversarial Autoencoder (AAE)</a:t>
            </a:r>
          </a:p>
        </p:txBody>
      </p:sp>
      <p:sp>
        <p:nvSpPr>
          <p:cNvPr id="4" name="Footer Placeholder 3">
            <a:extLst>
              <a:ext uri="{FF2B5EF4-FFF2-40B4-BE49-F238E27FC236}">
                <a16:creationId xmlns:a16="http://schemas.microsoft.com/office/drawing/2014/main" xmlns="" id="{04EF60B4-8218-499E-A435-0D518D6658A7}"/>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pic>
        <p:nvPicPr>
          <p:cNvPr id="10" name="Picture 9">
            <a:extLst>
              <a:ext uri="{FF2B5EF4-FFF2-40B4-BE49-F238E27FC236}">
                <a16:creationId xmlns:a16="http://schemas.microsoft.com/office/drawing/2014/main" xmlns="" id="{7FB5CF45-BCC6-4989-99B8-F6D848926193}"/>
              </a:ext>
            </a:extLst>
          </p:cNvPr>
          <p:cNvPicPr>
            <a:picLocks noChangeAspect="1"/>
          </p:cNvPicPr>
          <p:nvPr/>
        </p:nvPicPr>
        <p:blipFill rotWithShape="1">
          <a:blip r:embed="rId3">
            <a:extLst>
              <a:ext uri="{28A0092B-C50C-407E-A947-70E740481C1C}">
                <a14:useLocalDpi xmlns:a14="http://schemas.microsoft.com/office/drawing/2010/main" val="0"/>
              </a:ext>
            </a:extLst>
          </a:blip>
          <a:srcRect l="1744" t="7052" r="2584" b="2927"/>
          <a:stretch/>
        </p:blipFill>
        <p:spPr>
          <a:xfrm>
            <a:off x="1739008" y="1405054"/>
            <a:ext cx="8991600" cy="3581400"/>
          </a:xfrm>
          <a:prstGeom prst="rect">
            <a:avLst/>
          </a:prstGeom>
        </p:spPr>
      </p:pic>
      <p:sp>
        <p:nvSpPr>
          <p:cNvPr id="11" name="TextBox 13">
            <a:extLst>
              <a:ext uri="{FF2B5EF4-FFF2-40B4-BE49-F238E27FC236}">
                <a16:creationId xmlns:a16="http://schemas.microsoft.com/office/drawing/2014/main" xmlns="" id="{C54D1AF0-4C37-4501-B9A0-C6D5A1455566}"/>
              </a:ext>
            </a:extLst>
          </p:cNvPr>
          <p:cNvSpPr txBox="1"/>
          <p:nvPr/>
        </p:nvSpPr>
        <p:spPr>
          <a:xfrm>
            <a:off x="2106086" y="6314898"/>
            <a:ext cx="9014904"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https://</a:t>
            </a:r>
            <a:r>
              <a:rPr lang="en-US" sz="1200" dirty="0" err="1"/>
              <a:t>towardsdatascience.com</a:t>
            </a:r>
            <a:r>
              <a:rPr lang="en-US" sz="1200" dirty="0"/>
              <a:t>/a-wizards-guide-to-adversarial-autoencoders-part-2-exploring-latent-space-with-adversarial-2d53a6f8a4f9</a:t>
            </a:r>
          </a:p>
        </p:txBody>
      </p:sp>
      <p:sp>
        <p:nvSpPr>
          <p:cNvPr id="8" name="Rectangle 7">
            <a:extLst>
              <a:ext uri="{FF2B5EF4-FFF2-40B4-BE49-F238E27FC236}">
                <a16:creationId xmlns:a16="http://schemas.microsoft.com/office/drawing/2014/main" xmlns="" id="{9D383A44-672F-E545-8FA7-1B85324E9369}"/>
              </a:ext>
            </a:extLst>
          </p:cNvPr>
          <p:cNvSpPr/>
          <p:nvPr/>
        </p:nvSpPr>
        <p:spPr>
          <a:xfrm>
            <a:off x="616447" y="4602546"/>
            <a:ext cx="11236721" cy="1815882"/>
          </a:xfrm>
          <a:prstGeom prst="rect">
            <a:avLst/>
          </a:prstGeom>
        </p:spPr>
        <p:txBody>
          <a:bodyPr wrap="square">
            <a:spAutoFit/>
          </a:bodyPr>
          <a:lstStyle/>
          <a:p>
            <a:r>
              <a:rPr lang="en-US" sz="2400" b="1" dirty="0"/>
              <a:t>Two basic goals</a:t>
            </a:r>
          </a:p>
          <a:p>
            <a:pPr marL="457200" indent="-457200">
              <a:buFont typeface="+mj-lt"/>
              <a:buAutoNum type="arabicPeriod"/>
            </a:pPr>
            <a:r>
              <a:rPr lang="en-US" sz="2200" dirty="0"/>
              <a:t>Encoder, through the discriminator, learns to create representations that resemble random samples from a target distribution</a:t>
            </a:r>
          </a:p>
          <a:p>
            <a:pPr marL="457200" indent="-457200">
              <a:buFont typeface="+mj-lt"/>
              <a:buAutoNum type="arabicPeriod"/>
            </a:pPr>
            <a:r>
              <a:rPr lang="en-US" sz="2200" dirty="0"/>
              <a:t>Decoder can “recover” original input from any sample from the target distribution and also functions as a </a:t>
            </a:r>
            <a:r>
              <a:rPr lang="en-US" sz="2200" b="1" dirty="0"/>
              <a:t>stand-alone generator</a:t>
            </a:r>
          </a:p>
        </p:txBody>
      </p:sp>
    </p:spTree>
    <p:extLst>
      <p:ext uri="{BB962C8B-B14F-4D97-AF65-F5344CB8AC3E}">
        <p14:creationId xmlns:p14="http://schemas.microsoft.com/office/powerpoint/2010/main" val="427128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F83659-93BC-4BDD-967D-5B30C47EA4B5}"/>
              </a:ext>
            </a:extLst>
          </p:cNvPr>
          <p:cNvSpPr>
            <a:spLocks noGrp="1"/>
          </p:cNvSpPr>
          <p:nvPr>
            <p:ph type="title"/>
          </p:nvPr>
        </p:nvSpPr>
        <p:spPr/>
        <p:txBody>
          <a:bodyPr/>
          <a:lstStyle/>
          <a:p>
            <a:r>
              <a:rPr lang="en-US" dirty="0"/>
              <a:t>Converting Domains to Vectors</a:t>
            </a:r>
          </a:p>
        </p:txBody>
      </p:sp>
      <p:sp>
        <p:nvSpPr>
          <p:cNvPr id="4" name="Footer Placeholder 3">
            <a:extLst>
              <a:ext uri="{FF2B5EF4-FFF2-40B4-BE49-F238E27FC236}">
                <a16:creationId xmlns:a16="http://schemas.microsoft.com/office/drawing/2014/main" xmlns="" id="{27B9D2CE-B6CF-4345-A697-890681DA942F}"/>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
        <p:nvSpPr>
          <p:cNvPr id="7" name="Content Placeholder 6">
            <a:extLst>
              <a:ext uri="{FF2B5EF4-FFF2-40B4-BE49-F238E27FC236}">
                <a16:creationId xmlns:a16="http://schemas.microsoft.com/office/drawing/2014/main" xmlns="" id="{EEC41952-FC6F-4479-85FD-9C0EEA212E71}"/>
              </a:ext>
            </a:extLst>
          </p:cNvPr>
          <p:cNvSpPr>
            <a:spLocks noGrp="1"/>
          </p:cNvSpPr>
          <p:nvPr>
            <p:ph idx="1"/>
          </p:nvPr>
        </p:nvSpPr>
        <p:spPr/>
        <p:txBody>
          <a:bodyPr/>
          <a:lstStyle/>
          <a:p>
            <a:r>
              <a:rPr lang="en-US" dirty="0"/>
              <a:t>Discard domains with &gt; 50 characters</a:t>
            </a:r>
          </a:p>
          <a:p>
            <a:pPr lvl="1"/>
            <a:r>
              <a:rPr lang="en-US" dirty="0"/>
              <a:t>Too challenging for the encoder/decoder</a:t>
            </a:r>
          </a:p>
          <a:p>
            <a:r>
              <a:rPr lang="en-US" dirty="0"/>
              <a:t>Fix domains to length 50 (pad with spaces where needed)</a:t>
            </a:r>
          </a:p>
          <a:p>
            <a:r>
              <a:rPr lang="en-US" dirty="0"/>
              <a:t>Use categorical transformation similar to one described in [1] to construct numeric vector</a:t>
            </a:r>
          </a:p>
          <a:p>
            <a:endParaRPr lang="en-US" dirty="0"/>
          </a:p>
        </p:txBody>
      </p:sp>
      <p:sp>
        <p:nvSpPr>
          <p:cNvPr id="8" name="TextBox 7">
            <a:extLst>
              <a:ext uri="{FF2B5EF4-FFF2-40B4-BE49-F238E27FC236}">
                <a16:creationId xmlns:a16="http://schemas.microsoft.com/office/drawing/2014/main" xmlns="" id="{8F18A883-C460-40B3-B4A6-B91F05CFBB13}"/>
              </a:ext>
            </a:extLst>
          </p:cNvPr>
          <p:cNvSpPr txBox="1"/>
          <p:nvPr/>
        </p:nvSpPr>
        <p:spPr>
          <a:xfrm>
            <a:off x="3132984" y="6166338"/>
            <a:ext cx="6559550" cy="369332"/>
          </a:xfrm>
          <a:prstGeom prst="rect">
            <a:avLst/>
          </a:prstGeom>
          <a:noFill/>
        </p:spPr>
        <p:txBody>
          <a:bodyPr wrap="square" rtlCol="0">
            <a:spAutoFit/>
          </a:bodyPr>
          <a:lstStyle/>
          <a:p>
            <a:r>
              <a:rPr lang="en-US" dirty="0"/>
              <a:t>1: </a:t>
            </a:r>
            <a:r>
              <a:rPr lang="en-US" dirty="0">
                <a:hlinkClick r:id="rId2"/>
              </a:rPr>
              <a:t>https://dai.lids.mit.edu/wp-content/uploads/2018/03/SDV.pdf</a:t>
            </a:r>
            <a:r>
              <a:rPr lang="en-US" dirty="0"/>
              <a:t> </a:t>
            </a:r>
          </a:p>
        </p:txBody>
      </p:sp>
      <p:pic>
        <p:nvPicPr>
          <p:cNvPr id="9" name="Picture 8">
            <a:extLst>
              <a:ext uri="{FF2B5EF4-FFF2-40B4-BE49-F238E27FC236}">
                <a16:creationId xmlns:a16="http://schemas.microsoft.com/office/drawing/2014/main" xmlns="" id="{0B1E3D8F-24AD-4CFA-BD90-5111CFAC84C7}"/>
              </a:ext>
            </a:extLst>
          </p:cNvPr>
          <p:cNvPicPr>
            <a:picLocks noChangeAspect="1"/>
          </p:cNvPicPr>
          <p:nvPr/>
        </p:nvPicPr>
        <p:blipFill rotWithShape="1">
          <a:blip r:embed="rId3"/>
          <a:srcRect l="2036" t="11694" r="3754" b="14016"/>
          <a:stretch/>
        </p:blipFill>
        <p:spPr>
          <a:xfrm>
            <a:off x="1259305" y="3429000"/>
            <a:ext cx="9673390" cy="2823410"/>
          </a:xfrm>
          <a:prstGeom prst="rect">
            <a:avLst/>
          </a:prstGeom>
        </p:spPr>
      </p:pic>
    </p:spTree>
    <p:extLst>
      <p:ext uri="{BB962C8B-B14F-4D97-AF65-F5344CB8AC3E}">
        <p14:creationId xmlns:p14="http://schemas.microsoft.com/office/powerpoint/2010/main" val="17859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089D9A-93B0-4115-A947-05979B87578A}"/>
              </a:ext>
            </a:extLst>
          </p:cNvPr>
          <p:cNvSpPr>
            <a:spLocks noGrp="1"/>
          </p:cNvSpPr>
          <p:nvPr>
            <p:ph type="title"/>
          </p:nvPr>
        </p:nvSpPr>
        <p:spPr>
          <a:xfrm>
            <a:off x="616448" y="375808"/>
            <a:ext cx="11236721" cy="750253"/>
          </a:xfrm>
        </p:spPr>
        <p:txBody>
          <a:bodyPr/>
          <a:lstStyle/>
          <a:p>
            <a:r>
              <a:rPr lang="en-US" dirty="0"/>
              <a:t>Decoder as Stand-Alone Generator</a:t>
            </a:r>
          </a:p>
        </p:txBody>
      </p:sp>
      <p:pic>
        <p:nvPicPr>
          <p:cNvPr id="13" name="Content Placeholder 12">
            <a:extLst>
              <a:ext uri="{FF2B5EF4-FFF2-40B4-BE49-F238E27FC236}">
                <a16:creationId xmlns:a16="http://schemas.microsoft.com/office/drawing/2014/main" xmlns="" id="{969C08A6-E08F-491F-A000-F349EE0DBE8F}"/>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xmlns="" r:id="rId4"/>
              </a:ext>
            </a:extLst>
          </a:blip>
          <a:stretch>
            <a:fillRect/>
          </a:stretch>
        </p:blipFill>
        <p:spPr>
          <a:xfrm>
            <a:off x="480091" y="1278721"/>
            <a:ext cx="2523717" cy="1721911"/>
          </a:xfrm>
        </p:spPr>
      </p:pic>
      <p:sp>
        <p:nvSpPr>
          <p:cNvPr id="4" name="Footer Placeholder 3">
            <a:extLst>
              <a:ext uri="{FF2B5EF4-FFF2-40B4-BE49-F238E27FC236}">
                <a16:creationId xmlns:a16="http://schemas.microsoft.com/office/drawing/2014/main" xmlns="" id="{C5ED1F56-5070-45E8-BBAE-20276EC7BFA2}"/>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
        <p:nvSpPr>
          <p:cNvPr id="5" name="Rectangle 4">
            <a:extLst>
              <a:ext uri="{FF2B5EF4-FFF2-40B4-BE49-F238E27FC236}">
                <a16:creationId xmlns:a16="http://schemas.microsoft.com/office/drawing/2014/main" xmlns="" id="{7F24EBF4-7825-9E45-AFC4-E559F4C7E05C}"/>
              </a:ext>
            </a:extLst>
          </p:cNvPr>
          <p:cNvSpPr/>
          <p:nvPr/>
        </p:nvSpPr>
        <p:spPr>
          <a:xfrm>
            <a:off x="5641551" y="1764548"/>
            <a:ext cx="1437345" cy="750254"/>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dirty="0">
                <a:solidFill>
                  <a:schemeClr val="tx1"/>
                </a:solidFill>
              </a:rPr>
              <a:t>Decoder</a:t>
            </a:r>
          </a:p>
        </p:txBody>
      </p:sp>
      <p:sp>
        <p:nvSpPr>
          <p:cNvPr id="6" name="Double Bracket 5">
            <a:extLst>
              <a:ext uri="{FF2B5EF4-FFF2-40B4-BE49-F238E27FC236}">
                <a16:creationId xmlns:a16="http://schemas.microsoft.com/office/drawing/2014/main" xmlns="" id="{C91A9EAB-3EC8-BF46-A5BD-0487DD4BF7C5}"/>
              </a:ext>
            </a:extLst>
          </p:cNvPr>
          <p:cNvSpPr/>
          <p:nvPr/>
        </p:nvSpPr>
        <p:spPr>
          <a:xfrm>
            <a:off x="4145064" y="1616294"/>
            <a:ext cx="676073" cy="1046763"/>
          </a:xfrm>
          <a:prstGeom prst="bracketPair">
            <a:avLst/>
          </a:prstGeom>
          <a:ln>
            <a:solidFill>
              <a:schemeClr val="accent2"/>
            </a:solidFill>
          </a:ln>
        </p:spPr>
        <p:style>
          <a:lnRef idx="2">
            <a:schemeClr val="accent2"/>
          </a:lnRef>
          <a:fillRef idx="0">
            <a:schemeClr val="accent2"/>
          </a:fillRef>
          <a:effectRef idx="1">
            <a:schemeClr val="accent2"/>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 name="TextBox 10">
            <a:extLst>
              <a:ext uri="{FF2B5EF4-FFF2-40B4-BE49-F238E27FC236}">
                <a16:creationId xmlns:a16="http://schemas.microsoft.com/office/drawing/2014/main" xmlns="" id="{E4E45D5A-E224-4C41-BFC1-E160AA7CC189}"/>
              </a:ext>
            </a:extLst>
          </p:cNvPr>
          <p:cNvSpPr txBox="1"/>
          <p:nvPr/>
        </p:nvSpPr>
        <p:spPr>
          <a:xfrm>
            <a:off x="4264228" y="1726605"/>
            <a:ext cx="437745"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t>1.2</a:t>
            </a:r>
          </a:p>
          <a:p>
            <a:pPr algn="ctr"/>
            <a:r>
              <a:rPr lang="en-US" sz="1200" dirty="0"/>
              <a:t>0.3</a:t>
            </a:r>
          </a:p>
          <a:p>
            <a:pPr algn="ctr"/>
            <a:r>
              <a:rPr lang="en-US" sz="1200" dirty="0"/>
              <a:t>...</a:t>
            </a:r>
          </a:p>
          <a:p>
            <a:pPr algn="ctr"/>
            <a:r>
              <a:rPr lang="en-US" sz="1200" dirty="0"/>
              <a:t>0.7</a:t>
            </a:r>
          </a:p>
        </p:txBody>
      </p:sp>
      <p:sp>
        <p:nvSpPr>
          <p:cNvPr id="8" name="TextBox 11">
            <a:extLst>
              <a:ext uri="{FF2B5EF4-FFF2-40B4-BE49-F238E27FC236}">
                <a16:creationId xmlns:a16="http://schemas.microsoft.com/office/drawing/2014/main" xmlns="" id="{B88701B6-2D7C-5A4C-992A-0B429EF09703}"/>
              </a:ext>
            </a:extLst>
          </p:cNvPr>
          <p:cNvSpPr txBox="1"/>
          <p:nvPr/>
        </p:nvSpPr>
        <p:spPr>
          <a:xfrm>
            <a:off x="4314656" y="1277535"/>
            <a:ext cx="336887"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z’</a:t>
            </a:r>
          </a:p>
        </p:txBody>
      </p:sp>
      <p:cxnSp>
        <p:nvCxnSpPr>
          <p:cNvPr id="9" name="Straight Arrow Connector 8">
            <a:extLst>
              <a:ext uri="{FF2B5EF4-FFF2-40B4-BE49-F238E27FC236}">
                <a16:creationId xmlns:a16="http://schemas.microsoft.com/office/drawing/2014/main" xmlns="" id="{D469FABC-ED61-124A-BE64-025DC16B3959}"/>
              </a:ext>
            </a:extLst>
          </p:cNvPr>
          <p:cNvCxnSpPr>
            <a:cxnSpLocks/>
            <a:stCxn id="6" idx="3"/>
            <a:endCxn id="5" idx="1"/>
          </p:cNvCxnSpPr>
          <p:nvPr/>
        </p:nvCxnSpPr>
        <p:spPr>
          <a:xfrm flipV="1">
            <a:off x="4821137" y="2139675"/>
            <a:ext cx="8204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16">
            <a:extLst>
              <a:ext uri="{FF2B5EF4-FFF2-40B4-BE49-F238E27FC236}">
                <a16:creationId xmlns:a16="http://schemas.microsoft.com/office/drawing/2014/main" xmlns="" id="{7AB9D1A6-ED94-C542-854F-96AD41D249E6}"/>
              </a:ext>
            </a:extLst>
          </p:cNvPr>
          <p:cNvSpPr txBox="1"/>
          <p:nvPr/>
        </p:nvSpPr>
        <p:spPr>
          <a:xfrm>
            <a:off x="7954986" y="1908842"/>
            <a:ext cx="3898183" cy="461665"/>
          </a:xfrm>
          <a:prstGeom prst="rect">
            <a:avLst/>
          </a:prstGeom>
          <a:noFill/>
          <a:ln>
            <a:solidFill>
              <a:schemeClr val="tx1"/>
            </a:solidFill>
          </a:ln>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err="1"/>
              <a:t>www.haiopiia-opdlmnrn.tmre</a:t>
            </a:r>
            <a:endParaRPr lang="en-US" sz="2400" dirty="0"/>
          </a:p>
        </p:txBody>
      </p:sp>
      <p:cxnSp>
        <p:nvCxnSpPr>
          <p:cNvPr id="11" name="Straight Arrow Connector 10">
            <a:extLst>
              <a:ext uri="{FF2B5EF4-FFF2-40B4-BE49-F238E27FC236}">
                <a16:creationId xmlns:a16="http://schemas.microsoft.com/office/drawing/2014/main" xmlns="" id="{9C22E2C8-F7B4-B040-824D-157A48FC616F}"/>
              </a:ext>
            </a:extLst>
          </p:cNvPr>
          <p:cNvCxnSpPr>
            <a:cxnSpLocks/>
            <a:stCxn id="5" idx="3"/>
            <a:endCxn id="10" idx="1"/>
          </p:cNvCxnSpPr>
          <p:nvPr/>
        </p:nvCxnSpPr>
        <p:spPr>
          <a:xfrm>
            <a:off x="7078896" y="2139675"/>
            <a:ext cx="8760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xmlns="" id="{DF1B8946-36A3-4330-9E46-F194E80A066A}"/>
                  </a:ext>
                </a:extLst>
              </p:cNvPr>
              <p:cNvSpPr txBox="1"/>
              <p:nvPr/>
            </p:nvSpPr>
            <p:spPr>
              <a:xfrm>
                <a:off x="480091" y="2842632"/>
                <a:ext cx="2843387" cy="830997"/>
              </a:xfrm>
              <a:prstGeom prst="rect">
                <a:avLst/>
              </a:prstGeom>
              <a:noFill/>
            </p:spPr>
            <p:txBody>
              <a:bodyPr wrap="square" rtlCol="0">
                <a:spAutoFit/>
              </a:bodyPr>
              <a:lstStyle/>
              <a:p>
                <a:r>
                  <a:rPr lang="en-US" sz="2400" dirty="0"/>
                  <a:t>Normal distribution</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𝜇</m:t>
                      </m:r>
                      <m:r>
                        <a:rPr lang="en-US" sz="2400" b="0" i="1" smtClean="0">
                          <a:latin typeface="Cambria Math" panose="02040503050406030204" pitchFamily="18" charset="0"/>
                        </a:rPr>
                        <m:t>=0, </m:t>
                      </m:r>
                      <m:r>
                        <a:rPr lang="en-US" sz="2400" b="0" i="1" smtClean="0">
                          <a:latin typeface="Cambria Math" panose="02040503050406030204" pitchFamily="18" charset="0"/>
                        </a:rPr>
                        <m:t>𝜎</m:t>
                      </m:r>
                      <m:r>
                        <a:rPr lang="en-US" sz="2400" b="0" i="1" smtClean="0">
                          <a:latin typeface="Cambria Math" panose="02040503050406030204" pitchFamily="18" charset="0"/>
                        </a:rPr>
                        <m:t>=1</m:t>
                      </m:r>
                    </m:oMath>
                  </m:oMathPara>
                </a14:m>
                <a:endParaRPr lang="en-US" sz="2400" dirty="0"/>
              </a:p>
            </p:txBody>
          </p:sp>
        </mc:Choice>
        <mc:Fallback xmlns="">
          <p:sp>
            <p:nvSpPr>
              <p:cNvPr id="17" name="TextBox 16">
                <a:extLst>
                  <a:ext uri="{FF2B5EF4-FFF2-40B4-BE49-F238E27FC236}">
                    <a16:creationId xmlns:a16="http://schemas.microsoft.com/office/drawing/2014/main" id="{DF1B8946-36A3-4330-9E46-F194E80A066A}"/>
                  </a:ext>
                </a:extLst>
              </p:cNvPr>
              <p:cNvSpPr txBox="1">
                <a:spLocks noRot="1" noChangeAspect="1" noMove="1" noResize="1" noEditPoints="1" noAdjustHandles="1" noChangeArrowheads="1" noChangeShapeType="1" noTextEdit="1"/>
              </p:cNvSpPr>
              <p:nvPr/>
            </p:nvSpPr>
            <p:spPr>
              <a:xfrm>
                <a:off x="480091" y="2842632"/>
                <a:ext cx="2843387" cy="830997"/>
              </a:xfrm>
              <a:prstGeom prst="rect">
                <a:avLst/>
              </a:prstGeom>
              <a:blipFill>
                <a:blip r:embed="rId5"/>
                <a:stretch>
                  <a:fillRect l="-3433" t="-5839" b="-3650"/>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xmlns="" id="{F004BAE0-9F1D-4991-80A7-958B93F81BC5}"/>
              </a:ext>
            </a:extLst>
          </p:cNvPr>
          <p:cNvCxnSpPr>
            <a:cxnSpLocks/>
            <a:stCxn id="13" idx="3"/>
            <a:endCxn id="6" idx="1"/>
          </p:cNvCxnSpPr>
          <p:nvPr/>
        </p:nvCxnSpPr>
        <p:spPr>
          <a:xfrm flipV="1">
            <a:off x="3003808" y="2139676"/>
            <a:ext cx="114125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495C40A9-EBE9-46C2-9CF6-D6F7FE4BFEFC}"/>
              </a:ext>
            </a:extLst>
          </p:cNvPr>
          <p:cNvSpPr txBox="1"/>
          <p:nvPr/>
        </p:nvSpPr>
        <p:spPr>
          <a:xfrm>
            <a:off x="3002707" y="2148058"/>
            <a:ext cx="1143459" cy="461665"/>
          </a:xfrm>
          <a:prstGeom prst="rect">
            <a:avLst/>
          </a:prstGeom>
          <a:noFill/>
        </p:spPr>
        <p:txBody>
          <a:bodyPr wrap="square" rtlCol="0">
            <a:spAutoFit/>
          </a:bodyPr>
          <a:lstStyle/>
          <a:p>
            <a:r>
              <a:rPr lang="en-US" sz="2400" dirty="0"/>
              <a:t>sample</a:t>
            </a:r>
          </a:p>
        </p:txBody>
      </p:sp>
      <p:sp>
        <p:nvSpPr>
          <p:cNvPr id="23" name="TextBox 22">
            <a:extLst>
              <a:ext uri="{FF2B5EF4-FFF2-40B4-BE49-F238E27FC236}">
                <a16:creationId xmlns:a16="http://schemas.microsoft.com/office/drawing/2014/main" xmlns="" id="{1D4CD7EC-33A6-4F45-BE43-98C51768DCC2}"/>
              </a:ext>
            </a:extLst>
          </p:cNvPr>
          <p:cNvSpPr txBox="1"/>
          <p:nvPr/>
        </p:nvSpPr>
        <p:spPr>
          <a:xfrm>
            <a:off x="8580557" y="2387444"/>
            <a:ext cx="2843387" cy="461665"/>
          </a:xfrm>
          <a:prstGeom prst="rect">
            <a:avLst/>
          </a:prstGeom>
          <a:noFill/>
        </p:spPr>
        <p:txBody>
          <a:bodyPr wrap="square" rtlCol="0">
            <a:spAutoFit/>
          </a:bodyPr>
          <a:lstStyle/>
          <a:p>
            <a:r>
              <a:rPr lang="en-US" sz="2400" dirty="0"/>
              <a:t>Generated domain</a:t>
            </a:r>
          </a:p>
        </p:txBody>
      </p:sp>
      <p:graphicFrame>
        <p:nvGraphicFramePr>
          <p:cNvPr id="28" name="Table 27">
            <a:extLst>
              <a:ext uri="{FF2B5EF4-FFF2-40B4-BE49-F238E27FC236}">
                <a16:creationId xmlns:a16="http://schemas.microsoft.com/office/drawing/2014/main" xmlns="" id="{C90BFD96-0B29-4C2E-82A7-CBEE8FF1AD01}"/>
              </a:ext>
            </a:extLst>
          </p:cNvPr>
          <p:cNvGraphicFramePr>
            <a:graphicFrameLocks noGrp="1"/>
          </p:cNvGraphicFramePr>
          <p:nvPr>
            <p:extLst>
              <p:ext uri="{D42A27DB-BD31-4B8C-83A1-F6EECF244321}">
                <p14:modId xmlns:p14="http://schemas.microsoft.com/office/powerpoint/2010/main" val="3053211742"/>
              </p:ext>
            </p:extLst>
          </p:nvPr>
        </p:nvGraphicFramePr>
        <p:xfrm>
          <a:off x="3093208" y="3426939"/>
          <a:ext cx="6909042" cy="3072800"/>
        </p:xfrm>
        <a:graphic>
          <a:graphicData uri="http://schemas.openxmlformats.org/drawingml/2006/table">
            <a:tbl>
              <a:tblPr firstRow="1" bandRow="1">
                <a:tableStyleId>{69012ECD-51FC-41F1-AA8D-1B2483CD663E}</a:tableStyleId>
              </a:tblPr>
              <a:tblGrid>
                <a:gridCol w="3454521">
                  <a:extLst>
                    <a:ext uri="{9D8B030D-6E8A-4147-A177-3AD203B41FA5}">
                      <a16:colId xmlns:a16="http://schemas.microsoft.com/office/drawing/2014/main" xmlns="" val="2023412327"/>
                    </a:ext>
                  </a:extLst>
                </a:gridCol>
                <a:gridCol w="3454521">
                  <a:extLst>
                    <a:ext uri="{9D8B030D-6E8A-4147-A177-3AD203B41FA5}">
                      <a16:colId xmlns:a16="http://schemas.microsoft.com/office/drawing/2014/main" xmlns="" val="2409803050"/>
                    </a:ext>
                  </a:extLst>
                </a:gridCol>
              </a:tblGrid>
              <a:tr h="776658">
                <a:tc>
                  <a:txBody>
                    <a:bodyPr/>
                    <a:lstStyle/>
                    <a:p>
                      <a:r>
                        <a:rPr lang="en-US" sz="2400" b="0" dirty="0">
                          <a:solidFill>
                            <a:schemeClr val="bg1"/>
                          </a:solidFill>
                        </a:rPr>
                        <a:t>Example Generated Domains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r>
                        <a:rPr lang="en-US" sz="2400" b="0" dirty="0">
                          <a:solidFill>
                            <a:schemeClr val="bg1"/>
                          </a:solidFill>
                        </a:rPr>
                        <a:t>Real Phishing Domains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xmlns="" val="2458845009"/>
                  </a:ext>
                </a:extLst>
              </a:tr>
              <a:tr h="449968">
                <a:tc>
                  <a:txBody>
                    <a:bodyPr/>
                    <a:lstStyle/>
                    <a:p>
                      <a:r>
                        <a:rPr lang="en-US" dirty="0" err="1"/>
                        <a:t>cosecsoettcs.c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www.qapiseq.ml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1331844"/>
                  </a:ext>
                </a:extLst>
              </a:tr>
              <a:tr h="449968">
                <a:tc>
                  <a:txBody>
                    <a:bodyPr/>
                    <a:lstStyle/>
                    <a:p>
                      <a:r>
                        <a:rPr lang="en-US" dirty="0"/>
                        <a:t>www.i-as2oa.oo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olusesanekisola.com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43821277"/>
                  </a:ext>
                </a:extLst>
              </a:tr>
              <a:tr h="449968">
                <a:tc>
                  <a:txBody>
                    <a:bodyPr/>
                    <a:lstStyle/>
                    <a:p>
                      <a:r>
                        <a:rPr lang="en-US" dirty="0"/>
                        <a:t>www.pormcuoios.seucc.ccr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jisukcho.com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7113449"/>
                  </a:ext>
                </a:extLst>
              </a:tr>
              <a:tr h="449968">
                <a:tc>
                  <a:txBody>
                    <a:bodyPr/>
                    <a:lstStyle/>
                    <a:p>
                      <a:r>
                        <a:rPr lang="en-US" dirty="0"/>
                        <a:t>fooanbsocser.ca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www.jualumni-bd.org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44083853"/>
                  </a:ext>
                </a:extLst>
              </a:tr>
              <a:tr h="449968">
                <a:tc>
                  <a:txBody>
                    <a:bodyPr/>
                    <a:lstStyle/>
                    <a:p>
                      <a:r>
                        <a:rPr lang="en-US" dirty="0" err="1"/>
                        <a:t>cacnj-bcmectmete.mom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zyhber.com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03979432"/>
                  </a:ext>
                </a:extLst>
              </a:tr>
            </a:tbl>
          </a:graphicData>
        </a:graphic>
      </p:graphicFrame>
    </p:spTree>
    <p:extLst>
      <p:ext uri="{BB962C8B-B14F-4D97-AF65-F5344CB8AC3E}">
        <p14:creationId xmlns:p14="http://schemas.microsoft.com/office/powerpoint/2010/main" val="4166976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CF9A93-7D79-4804-9A46-797E11E5C685}"/>
              </a:ext>
            </a:extLst>
          </p:cNvPr>
          <p:cNvSpPr>
            <a:spLocks noGrp="1"/>
          </p:cNvSpPr>
          <p:nvPr>
            <p:ph type="title"/>
          </p:nvPr>
        </p:nvSpPr>
        <p:spPr/>
        <p:txBody>
          <a:bodyPr/>
          <a:lstStyle/>
          <a:p>
            <a:r>
              <a:rPr lang="en-US" dirty="0"/>
              <a:t>Test Set Results: Original &amp; Augmented Classifiers</a:t>
            </a:r>
          </a:p>
        </p:txBody>
      </p:sp>
      <p:sp>
        <p:nvSpPr>
          <p:cNvPr id="5" name="Content Placeholder 4">
            <a:extLst>
              <a:ext uri="{FF2B5EF4-FFF2-40B4-BE49-F238E27FC236}">
                <a16:creationId xmlns:a16="http://schemas.microsoft.com/office/drawing/2014/main" xmlns="" id="{CA3F7A3D-AEB1-4055-83F0-1951ECBC4FDE}"/>
              </a:ext>
            </a:extLst>
          </p:cNvPr>
          <p:cNvSpPr>
            <a:spLocks noGrp="1"/>
          </p:cNvSpPr>
          <p:nvPr>
            <p:ph idx="1"/>
          </p:nvPr>
        </p:nvSpPr>
        <p:spPr>
          <a:xfrm>
            <a:off x="616448" y="1289314"/>
            <a:ext cx="3665821" cy="5202925"/>
          </a:xfrm>
        </p:spPr>
        <p:txBody>
          <a:bodyPr/>
          <a:lstStyle/>
          <a:p>
            <a:r>
              <a:rPr lang="en-US" dirty="0"/>
              <a:t>4 models tested</a:t>
            </a:r>
          </a:p>
          <a:p>
            <a:pPr lvl="1"/>
            <a:r>
              <a:rPr lang="en-US" dirty="0"/>
              <a:t>Original classifier</a:t>
            </a:r>
          </a:p>
          <a:p>
            <a:pPr lvl="1"/>
            <a:r>
              <a:rPr lang="en-US" dirty="0"/>
              <a:t>50K classifier</a:t>
            </a:r>
          </a:p>
          <a:p>
            <a:pPr lvl="2"/>
            <a:r>
              <a:rPr lang="en-US" dirty="0"/>
              <a:t>Training set augmented with synthetic domains</a:t>
            </a:r>
          </a:p>
          <a:p>
            <a:pPr lvl="1"/>
            <a:r>
              <a:rPr lang="en-US" dirty="0"/>
              <a:t>100K classifier</a:t>
            </a:r>
          </a:p>
          <a:p>
            <a:pPr lvl="2"/>
            <a:r>
              <a:rPr lang="en-US" dirty="0"/>
              <a:t>Training set augmented with synthetic domains</a:t>
            </a:r>
          </a:p>
          <a:p>
            <a:pPr lvl="1"/>
            <a:r>
              <a:rPr lang="en-US" dirty="0"/>
              <a:t>New malicious classifier</a:t>
            </a:r>
          </a:p>
          <a:p>
            <a:pPr lvl="2"/>
            <a:r>
              <a:rPr lang="en-US" dirty="0"/>
              <a:t>Training set augmented with more real phishing domains</a:t>
            </a:r>
          </a:p>
        </p:txBody>
      </p:sp>
      <p:graphicFrame>
        <p:nvGraphicFramePr>
          <p:cNvPr id="13" name="Table 12">
            <a:extLst>
              <a:ext uri="{FF2B5EF4-FFF2-40B4-BE49-F238E27FC236}">
                <a16:creationId xmlns:a16="http://schemas.microsoft.com/office/drawing/2014/main" xmlns="" id="{EB4E7826-6A9E-4823-A073-BB3F061068FF}"/>
              </a:ext>
            </a:extLst>
          </p:cNvPr>
          <p:cNvGraphicFramePr>
            <a:graphicFrameLocks noGrp="1"/>
          </p:cNvGraphicFramePr>
          <p:nvPr>
            <p:extLst>
              <p:ext uri="{D42A27DB-BD31-4B8C-83A1-F6EECF244321}">
                <p14:modId xmlns:p14="http://schemas.microsoft.com/office/powerpoint/2010/main" val="3555655662"/>
              </p:ext>
            </p:extLst>
          </p:nvPr>
        </p:nvGraphicFramePr>
        <p:xfrm>
          <a:off x="4282269" y="1371602"/>
          <a:ext cx="3721770" cy="3840480"/>
        </p:xfrm>
        <a:graphic>
          <a:graphicData uri="http://schemas.openxmlformats.org/drawingml/2006/table">
            <a:tbl>
              <a:tblPr firstRow="1" bandRow="1">
                <a:tableStyleId>{1E171933-4619-4E11-9A3F-F7608DF75F80}</a:tableStyleId>
              </a:tblPr>
              <a:tblGrid>
                <a:gridCol w="1147952">
                  <a:extLst>
                    <a:ext uri="{9D8B030D-6E8A-4147-A177-3AD203B41FA5}">
                      <a16:colId xmlns:a16="http://schemas.microsoft.com/office/drawing/2014/main" xmlns="" val="836259415"/>
                    </a:ext>
                  </a:extLst>
                </a:gridCol>
                <a:gridCol w="1304907">
                  <a:extLst>
                    <a:ext uri="{9D8B030D-6E8A-4147-A177-3AD203B41FA5}">
                      <a16:colId xmlns:a16="http://schemas.microsoft.com/office/drawing/2014/main" xmlns="" val="2578926763"/>
                    </a:ext>
                  </a:extLst>
                </a:gridCol>
                <a:gridCol w="1268911">
                  <a:extLst>
                    <a:ext uri="{9D8B030D-6E8A-4147-A177-3AD203B41FA5}">
                      <a16:colId xmlns:a16="http://schemas.microsoft.com/office/drawing/2014/main" xmlns="" val="2634583019"/>
                    </a:ext>
                  </a:extLst>
                </a:gridCol>
              </a:tblGrid>
              <a:tr h="280919">
                <a:tc>
                  <a:txBody>
                    <a:bodyPr/>
                    <a:lstStyle/>
                    <a:p>
                      <a:r>
                        <a:rPr lang="en-US" sz="2200" b="0" dirty="0">
                          <a:solidFill>
                            <a:schemeClr val="tx1"/>
                          </a:solidFill>
                        </a:rPr>
                        <a:t>Test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0" dirty="0">
                          <a:solidFill>
                            <a:schemeClr val="tx1"/>
                          </a:solidFill>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97375993"/>
                  </a:ext>
                </a:extLst>
              </a:tr>
              <a:tr h="280919">
                <a:tc rowSpan="4">
                  <a:txBody>
                    <a:bodyPr/>
                    <a:lstStyle/>
                    <a:p>
                      <a:r>
                        <a:rPr lang="en-US" sz="2200" dirty="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81.74%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606053582"/>
                  </a:ext>
                </a:extLst>
              </a:tr>
              <a:tr h="280919">
                <a:tc vMerge="1">
                  <a:txBody>
                    <a:bodyPr/>
                    <a:lstStyle/>
                    <a:p>
                      <a:endParaRPr lang="en-US" dirty="0"/>
                    </a:p>
                  </a:txBody>
                  <a:tcPr/>
                </a:tc>
                <a:tc>
                  <a:txBody>
                    <a:bodyPr/>
                    <a:lstStyle/>
                    <a:p>
                      <a:r>
                        <a:rPr lang="en-US" sz="2200" dirty="0">
                          <a:solidFill>
                            <a:schemeClr val="tx1"/>
                          </a:solidFill>
                        </a:rPr>
                        <a:t>50K</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81.81%</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5343783"/>
                  </a:ext>
                </a:extLst>
              </a:tr>
              <a:tr h="280919">
                <a:tc vMerge="1">
                  <a:txBody>
                    <a:bodyPr/>
                    <a:lstStyle/>
                    <a:p>
                      <a:endParaRPr lang="en-US" dirty="0"/>
                    </a:p>
                  </a:txBody>
                  <a:tcPr/>
                </a:tc>
                <a:tc>
                  <a:txBody>
                    <a:bodyPr/>
                    <a:lstStyle/>
                    <a:p>
                      <a:r>
                        <a:rPr lang="en-US" sz="2200" dirty="0">
                          <a:solidFill>
                            <a:schemeClr val="tx1"/>
                          </a:solidFill>
                        </a:rPr>
                        <a:t>100K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81.78%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3857778581"/>
                  </a:ext>
                </a:extLst>
              </a:tr>
              <a:tr h="280919">
                <a:tc vMerge="1">
                  <a:txBody>
                    <a:bodyPr/>
                    <a:lstStyle/>
                    <a:p>
                      <a:endParaRPr lang="en-US" sz="2000" dirty="0"/>
                    </a:p>
                  </a:txBody>
                  <a:tcPr/>
                </a:tc>
                <a:tc>
                  <a:txBody>
                    <a:bodyPr/>
                    <a:lstStyle/>
                    <a:p>
                      <a:r>
                        <a:rPr lang="en-US" sz="2200" dirty="0" err="1">
                          <a:solidFill>
                            <a:schemeClr val="tx1"/>
                          </a:solidFill>
                        </a:rPr>
                        <a:t>NewMal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12935875"/>
                  </a:ext>
                </a:extLst>
              </a:tr>
              <a:tr h="280919">
                <a:tc rowSpan="4">
                  <a:txBody>
                    <a:bodyPr/>
                    <a:lstStyle/>
                    <a:p>
                      <a:r>
                        <a:rPr lang="en-US" sz="2200" dirty="0">
                          <a:solidFill>
                            <a:schemeClr val="tx1"/>
                          </a:solidFill>
                        </a:rPr>
                        <a:t>50K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80.82%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940404807"/>
                  </a:ext>
                </a:extLst>
              </a:tr>
              <a:tr h="280919">
                <a:tc vMerge="1">
                  <a:txBody>
                    <a:bodyPr/>
                    <a:lstStyle/>
                    <a:p>
                      <a:endParaRPr lang="en-US" dirty="0"/>
                    </a:p>
                  </a:txBody>
                  <a:tcPr/>
                </a:tc>
                <a:tc>
                  <a:txBody>
                    <a:bodyPr/>
                    <a:lstStyle/>
                    <a:p>
                      <a:r>
                        <a:rPr lang="en-US" sz="2200" dirty="0">
                          <a:solidFill>
                            <a:schemeClr val="tx1"/>
                          </a:solidFill>
                        </a:rPr>
                        <a:t>50K</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83.26%</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57592448"/>
                  </a:ext>
                </a:extLst>
              </a:tr>
              <a:tr h="280919">
                <a:tc vMerge="1">
                  <a:txBody>
                    <a:bodyPr/>
                    <a:lstStyle/>
                    <a:p>
                      <a:endParaRPr lang="en-US"/>
                    </a:p>
                  </a:txBody>
                  <a:tcPr/>
                </a:tc>
                <a:tc>
                  <a:txBody>
                    <a:bodyPr/>
                    <a:lstStyle/>
                    <a:p>
                      <a:r>
                        <a:rPr lang="en-US" sz="2200" dirty="0">
                          <a:solidFill>
                            <a:schemeClr val="tx1"/>
                          </a:solidFill>
                        </a:rPr>
                        <a:t>100K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3256053050"/>
                  </a:ext>
                </a:extLst>
              </a:tr>
              <a:tr h="280919">
                <a:tc vMerge="1">
                  <a:txBody>
                    <a:bodyPr/>
                    <a:lstStyle/>
                    <a:p>
                      <a:endParaRPr lang="en-US" dirty="0"/>
                    </a:p>
                  </a:txBody>
                  <a:tcPr/>
                </a:tc>
                <a:tc>
                  <a:txBody>
                    <a:bodyPr/>
                    <a:lstStyle/>
                    <a:p>
                      <a:r>
                        <a:rPr lang="en-US" sz="2200" dirty="0" err="1">
                          <a:solidFill>
                            <a:schemeClr val="tx1"/>
                          </a:solidFill>
                        </a:rPr>
                        <a:t>NewMal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16452516"/>
                  </a:ext>
                </a:extLst>
              </a:tr>
            </a:tbl>
          </a:graphicData>
        </a:graphic>
      </p:graphicFrame>
      <p:graphicFrame>
        <p:nvGraphicFramePr>
          <p:cNvPr id="15" name="Table 14">
            <a:extLst>
              <a:ext uri="{FF2B5EF4-FFF2-40B4-BE49-F238E27FC236}">
                <a16:creationId xmlns:a16="http://schemas.microsoft.com/office/drawing/2014/main" xmlns="" id="{4D87FDBD-F52E-43CB-8D80-968AB154DCB0}"/>
              </a:ext>
            </a:extLst>
          </p:cNvPr>
          <p:cNvGraphicFramePr>
            <a:graphicFrameLocks noGrp="1"/>
          </p:cNvGraphicFramePr>
          <p:nvPr>
            <p:extLst>
              <p:ext uri="{D42A27DB-BD31-4B8C-83A1-F6EECF244321}">
                <p14:modId xmlns:p14="http://schemas.microsoft.com/office/powerpoint/2010/main" val="2989116960"/>
              </p:ext>
            </p:extLst>
          </p:nvPr>
        </p:nvGraphicFramePr>
        <p:xfrm>
          <a:off x="8131401" y="1371602"/>
          <a:ext cx="3721768" cy="3840480"/>
        </p:xfrm>
        <a:graphic>
          <a:graphicData uri="http://schemas.openxmlformats.org/drawingml/2006/table">
            <a:tbl>
              <a:tblPr firstRow="1" bandRow="1">
                <a:tableStyleId>{1E171933-4619-4E11-9A3F-F7608DF75F80}</a:tableStyleId>
              </a:tblPr>
              <a:tblGrid>
                <a:gridCol w="1158011">
                  <a:extLst>
                    <a:ext uri="{9D8B030D-6E8A-4147-A177-3AD203B41FA5}">
                      <a16:colId xmlns:a16="http://schemas.microsoft.com/office/drawing/2014/main" xmlns="" val="836259415"/>
                    </a:ext>
                  </a:extLst>
                </a:gridCol>
                <a:gridCol w="1274826">
                  <a:extLst>
                    <a:ext uri="{9D8B030D-6E8A-4147-A177-3AD203B41FA5}">
                      <a16:colId xmlns:a16="http://schemas.microsoft.com/office/drawing/2014/main" xmlns="" val="2578926763"/>
                    </a:ext>
                  </a:extLst>
                </a:gridCol>
                <a:gridCol w="1288931">
                  <a:extLst>
                    <a:ext uri="{9D8B030D-6E8A-4147-A177-3AD203B41FA5}">
                      <a16:colId xmlns:a16="http://schemas.microsoft.com/office/drawing/2014/main" xmlns="" val="2634583019"/>
                    </a:ext>
                  </a:extLst>
                </a:gridCol>
              </a:tblGrid>
              <a:tr h="280919">
                <a:tc>
                  <a:txBody>
                    <a:bodyPr/>
                    <a:lstStyle/>
                    <a:p>
                      <a:r>
                        <a:rPr lang="en-US" sz="2200" b="0" dirty="0">
                          <a:solidFill>
                            <a:schemeClr val="tx1"/>
                          </a:solidFill>
                        </a:rPr>
                        <a:t>Test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0" dirty="0">
                          <a:solidFill>
                            <a:schemeClr val="tx1"/>
                          </a:solidFill>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97375993"/>
                  </a:ext>
                </a:extLst>
              </a:tr>
              <a:tr h="280919">
                <a:tc rowSpan="4">
                  <a:txBody>
                    <a:bodyPr/>
                    <a:lstStyle/>
                    <a:p>
                      <a:r>
                        <a:rPr lang="en-US" sz="2200" dirty="0">
                          <a:solidFill>
                            <a:schemeClr val="tx1"/>
                          </a:solidFill>
                        </a:rPr>
                        <a:t>100K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80.84%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606053582"/>
                  </a:ext>
                </a:extLst>
              </a:tr>
              <a:tr h="280919">
                <a:tc vMerge="1">
                  <a:txBody>
                    <a:bodyPr/>
                    <a:lstStyle/>
                    <a:p>
                      <a:endParaRPr lang="en-US" dirty="0"/>
                    </a:p>
                  </a:txBody>
                  <a:tcPr/>
                </a:tc>
                <a:tc>
                  <a:txBody>
                    <a:bodyPr/>
                    <a:lstStyle/>
                    <a:p>
                      <a:r>
                        <a:rPr lang="en-US" sz="2200" dirty="0">
                          <a:solidFill>
                            <a:schemeClr val="tx1"/>
                          </a:solidFill>
                        </a:rPr>
                        <a:t>50K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83.28%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5343783"/>
                  </a:ext>
                </a:extLst>
              </a:tr>
              <a:tr h="280919">
                <a:tc vMerge="1">
                  <a:txBody>
                    <a:bodyPr/>
                    <a:lstStyle/>
                    <a:p>
                      <a:endParaRPr lang="en-US" dirty="0"/>
                    </a:p>
                  </a:txBody>
                  <a:tcPr/>
                </a:tc>
                <a:tc>
                  <a:txBody>
                    <a:bodyPr/>
                    <a:lstStyle/>
                    <a:p>
                      <a:r>
                        <a:rPr lang="en-US" sz="2200" dirty="0">
                          <a:solidFill>
                            <a:schemeClr val="tx1"/>
                          </a:solidFill>
                        </a:rPr>
                        <a:t>100K</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83.29%</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3857778581"/>
                  </a:ext>
                </a:extLst>
              </a:tr>
              <a:tr h="280919">
                <a:tc vMerge="1">
                  <a:txBody>
                    <a:bodyPr/>
                    <a:lstStyle/>
                    <a:p>
                      <a:endParaRPr lang="en-US" sz="2000" dirty="0"/>
                    </a:p>
                  </a:txBody>
                  <a:tcPr/>
                </a:tc>
                <a:tc>
                  <a:txBody>
                    <a:bodyPr/>
                    <a:lstStyle/>
                    <a:p>
                      <a:r>
                        <a:rPr lang="en-US" sz="2200" dirty="0" err="1">
                          <a:solidFill>
                            <a:schemeClr val="tx1"/>
                          </a:solidFill>
                        </a:rPr>
                        <a:t>NewMal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12935875"/>
                  </a:ext>
                </a:extLst>
              </a:tr>
              <a:tr h="280919">
                <a:tc rowSpan="4">
                  <a:txBody>
                    <a:bodyPr/>
                    <a:lstStyle/>
                    <a:p>
                      <a:r>
                        <a:rPr lang="en-US" sz="2200" dirty="0" err="1">
                          <a:solidFill>
                            <a:schemeClr val="tx1"/>
                          </a:solidFill>
                        </a:rPr>
                        <a:t>NewMal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81.39%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1940404807"/>
                  </a:ext>
                </a:extLst>
              </a:tr>
              <a:tr h="280919">
                <a:tc vMerge="1">
                  <a:txBody>
                    <a:bodyPr/>
                    <a:lstStyle/>
                    <a:p>
                      <a:endParaRPr lang="en-US" dirty="0"/>
                    </a:p>
                  </a:txBody>
                  <a:tcPr/>
                </a:tc>
                <a:tc>
                  <a:txBody>
                    <a:bodyPr/>
                    <a:lstStyle/>
                    <a:p>
                      <a:r>
                        <a:rPr lang="en-US" sz="2200" dirty="0">
                          <a:solidFill>
                            <a:schemeClr val="tx1"/>
                          </a:solidFill>
                        </a:rPr>
                        <a:t>50K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57592448"/>
                  </a:ext>
                </a:extLst>
              </a:tr>
              <a:tr h="280919">
                <a:tc vMerge="1">
                  <a:txBody>
                    <a:bodyPr/>
                    <a:lstStyle/>
                    <a:p>
                      <a:endParaRPr lang="en-US"/>
                    </a:p>
                  </a:txBody>
                  <a:tcPr/>
                </a:tc>
                <a:tc>
                  <a:txBody>
                    <a:bodyPr/>
                    <a:lstStyle/>
                    <a:p>
                      <a:r>
                        <a:rPr lang="en-US" sz="2200" dirty="0">
                          <a:solidFill>
                            <a:schemeClr val="tx1"/>
                          </a:solidFill>
                        </a:rPr>
                        <a:t>100K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US" sz="2200" dirty="0">
                          <a:solidFill>
                            <a:schemeClr val="tx1"/>
                          </a:solidFill>
                        </a:rPr>
                        <a:t>81.54%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xmlns="" val="3256053050"/>
                  </a:ext>
                </a:extLst>
              </a:tr>
              <a:tr h="280919">
                <a:tc vMerge="1">
                  <a:txBody>
                    <a:bodyPr/>
                    <a:lstStyle/>
                    <a:p>
                      <a:endParaRPr lang="en-US" dirty="0"/>
                    </a:p>
                  </a:txBody>
                  <a:tcPr/>
                </a:tc>
                <a:tc>
                  <a:txBody>
                    <a:bodyPr/>
                    <a:lstStyle/>
                    <a:p>
                      <a:r>
                        <a:rPr lang="en-US" sz="2200" dirty="0" err="1">
                          <a:solidFill>
                            <a:schemeClr val="tx1"/>
                          </a:solidFill>
                        </a:rPr>
                        <a:t>NewMal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solidFill>
                            <a:schemeClr val="tx1"/>
                          </a:solidFill>
                        </a:rPr>
                        <a:t>81.91%</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16452516"/>
                  </a:ext>
                </a:extLst>
              </a:tr>
            </a:tbl>
          </a:graphicData>
        </a:graphic>
      </p:graphicFrame>
      <p:sp>
        <p:nvSpPr>
          <p:cNvPr id="18" name="Content Placeholder 4">
            <a:extLst>
              <a:ext uri="{FF2B5EF4-FFF2-40B4-BE49-F238E27FC236}">
                <a16:creationId xmlns:a16="http://schemas.microsoft.com/office/drawing/2014/main" xmlns="" id="{D982BB28-2450-44D6-A101-50CB72476C05}"/>
              </a:ext>
            </a:extLst>
          </p:cNvPr>
          <p:cNvSpPr txBox="1">
            <a:spLocks/>
          </p:cNvSpPr>
          <p:nvPr/>
        </p:nvSpPr>
        <p:spPr>
          <a:xfrm>
            <a:off x="4282269" y="5372499"/>
            <a:ext cx="7698264" cy="1135781"/>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Arial" pitchFamily="34" charset="0"/>
                <a:ea typeface="Verdana" pitchFamily="34" charset="0"/>
                <a:cs typeface="Arial"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Arial" pitchFamily="34" charset="0"/>
                <a:ea typeface="Verdana" pitchFamily="34" charset="0"/>
                <a:cs typeface="Arial"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000" kern="1200" smtClean="0">
                <a:solidFill>
                  <a:schemeClr val="tx1"/>
                </a:solidFill>
                <a:latin typeface="Arial" pitchFamily="34" charset="0"/>
                <a:ea typeface="Verdana" pitchFamily="34" charset="0"/>
                <a:cs typeface="Arial"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smtClean="0">
                <a:solidFill>
                  <a:schemeClr val="tx1"/>
                </a:solidFill>
                <a:latin typeface="Arial" pitchFamily="34" charset="0"/>
                <a:ea typeface="Verdana" pitchFamily="34" charset="0"/>
                <a:cs typeface="Arial"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Original classifier is outperformed on all test sets</a:t>
            </a:r>
          </a:p>
        </p:txBody>
      </p:sp>
      <p:sp>
        <p:nvSpPr>
          <p:cNvPr id="7" name="Footer Placeholder 3">
            <a:extLst>
              <a:ext uri="{FF2B5EF4-FFF2-40B4-BE49-F238E27FC236}">
                <a16:creationId xmlns:a16="http://schemas.microsoft.com/office/drawing/2014/main" xmlns="" id="{11C540A0-A3AA-48F5-B6CB-A8C15DD77BE7}"/>
              </a:ext>
            </a:extLst>
          </p:cNvPr>
          <p:cNvSpPr>
            <a:spLocks noGrp="1"/>
          </p:cNvSpPr>
          <p:nvPr>
            <p:ph type="ftr" sz="quarter" idx="11"/>
          </p:nvPr>
        </p:nvSpPr>
        <p:spPr>
          <a:xfrm>
            <a:off x="616448" y="6521957"/>
            <a:ext cx="7536952" cy="239059"/>
          </a:xfrm>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2380471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D9FAD6-376E-4EB1-A662-068960CF13D6}"/>
              </a:ext>
            </a:extLst>
          </p:cNvPr>
          <p:cNvSpPr>
            <a:spLocks noGrp="1"/>
          </p:cNvSpPr>
          <p:nvPr>
            <p:ph type="title"/>
          </p:nvPr>
        </p:nvSpPr>
        <p:spPr/>
        <p:txBody>
          <a:bodyPr/>
          <a:lstStyle/>
          <a:p>
            <a:r>
              <a:rPr lang="en-US" dirty="0"/>
              <a:t>Real World Testing Results</a:t>
            </a:r>
          </a:p>
        </p:txBody>
      </p:sp>
      <p:sp>
        <p:nvSpPr>
          <p:cNvPr id="4" name="Footer Placeholder 3">
            <a:extLst>
              <a:ext uri="{FF2B5EF4-FFF2-40B4-BE49-F238E27FC236}">
                <a16:creationId xmlns:a16="http://schemas.microsoft.com/office/drawing/2014/main" xmlns="" id="{9C009034-DAF3-4A25-9914-1AAE22716991}"/>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graphicFrame>
        <p:nvGraphicFramePr>
          <p:cNvPr id="8" name="Content Placeholder 7">
            <a:extLst>
              <a:ext uri="{FF2B5EF4-FFF2-40B4-BE49-F238E27FC236}">
                <a16:creationId xmlns:a16="http://schemas.microsoft.com/office/drawing/2014/main" xmlns="" id="{E9AD861C-4E97-4FB3-A782-E54CE7398480}"/>
              </a:ext>
            </a:extLst>
          </p:cNvPr>
          <p:cNvGraphicFramePr>
            <a:graphicFrameLocks noGrp="1"/>
          </p:cNvGraphicFramePr>
          <p:nvPr>
            <p:ph idx="1"/>
            <p:extLst>
              <p:ext uri="{D42A27DB-BD31-4B8C-83A1-F6EECF244321}">
                <p14:modId xmlns:p14="http://schemas.microsoft.com/office/powerpoint/2010/main" val="4029572948"/>
              </p:ext>
            </p:extLst>
          </p:nvPr>
        </p:nvGraphicFramePr>
        <p:xfrm>
          <a:off x="2063179" y="1324705"/>
          <a:ext cx="8343258" cy="2494280"/>
        </p:xfrm>
        <a:graphic>
          <a:graphicData uri="http://schemas.openxmlformats.org/drawingml/2006/table">
            <a:tbl>
              <a:tblPr firstRow="1" bandRow="1">
                <a:tableStyleId>{5C22544A-7EE6-4342-B048-85BDC9FD1C3A}</a:tableStyleId>
              </a:tblPr>
              <a:tblGrid>
                <a:gridCol w="1191894">
                  <a:extLst>
                    <a:ext uri="{9D8B030D-6E8A-4147-A177-3AD203B41FA5}">
                      <a16:colId xmlns:a16="http://schemas.microsoft.com/office/drawing/2014/main" xmlns="" val="409952217"/>
                    </a:ext>
                  </a:extLst>
                </a:gridCol>
                <a:gridCol w="1191894">
                  <a:extLst>
                    <a:ext uri="{9D8B030D-6E8A-4147-A177-3AD203B41FA5}">
                      <a16:colId xmlns:a16="http://schemas.microsoft.com/office/drawing/2014/main" xmlns="" val="2909540253"/>
                    </a:ext>
                  </a:extLst>
                </a:gridCol>
                <a:gridCol w="1191894">
                  <a:extLst>
                    <a:ext uri="{9D8B030D-6E8A-4147-A177-3AD203B41FA5}">
                      <a16:colId xmlns:a16="http://schemas.microsoft.com/office/drawing/2014/main" xmlns="" val="985411960"/>
                    </a:ext>
                  </a:extLst>
                </a:gridCol>
                <a:gridCol w="1191894">
                  <a:extLst>
                    <a:ext uri="{9D8B030D-6E8A-4147-A177-3AD203B41FA5}">
                      <a16:colId xmlns:a16="http://schemas.microsoft.com/office/drawing/2014/main" xmlns="" val="261152661"/>
                    </a:ext>
                  </a:extLst>
                </a:gridCol>
                <a:gridCol w="1191894">
                  <a:extLst>
                    <a:ext uri="{9D8B030D-6E8A-4147-A177-3AD203B41FA5}">
                      <a16:colId xmlns:a16="http://schemas.microsoft.com/office/drawing/2014/main" xmlns="" val="2869861962"/>
                    </a:ext>
                  </a:extLst>
                </a:gridCol>
                <a:gridCol w="1191894">
                  <a:extLst>
                    <a:ext uri="{9D8B030D-6E8A-4147-A177-3AD203B41FA5}">
                      <a16:colId xmlns:a16="http://schemas.microsoft.com/office/drawing/2014/main" xmlns="" val="537287980"/>
                    </a:ext>
                  </a:extLst>
                </a:gridCol>
                <a:gridCol w="1191894">
                  <a:extLst>
                    <a:ext uri="{9D8B030D-6E8A-4147-A177-3AD203B41FA5}">
                      <a16:colId xmlns:a16="http://schemas.microsoft.com/office/drawing/2014/main" xmlns="" val="683240340"/>
                    </a:ext>
                  </a:extLst>
                </a:gridCol>
              </a:tblGrid>
              <a:tr h="370840">
                <a:tc>
                  <a:txBody>
                    <a:bodyPr/>
                    <a:lstStyle/>
                    <a:p>
                      <a:r>
                        <a:rPr lang="en-US" dirty="0"/>
                        <a:t>Model</a:t>
                      </a:r>
                    </a:p>
                  </a:txBody>
                  <a:tcPr/>
                </a:tc>
                <a:tc gridSpan="6">
                  <a:txBody>
                    <a:bodyPr/>
                    <a:lstStyle/>
                    <a:p>
                      <a:r>
                        <a:rPr lang="en-US" dirty="0"/>
                        <a:t>% of Domains flagged with probabilities above given threshold</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3502758612"/>
                  </a:ext>
                </a:extLst>
              </a:tr>
              <a:tr h="370840">
                <a:tc>
                  <a:txBody>
                    <a:bodyPr/>
                    <a:lstStyle/>
                    <a:p>
                      <a:endParaRPr lang="en-US" dirty="0"/>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0.95</a:t>
                      </a:r>
                    </a:p>
                  </a:txBody>
                  <a:tcPr/>
                </a:tc>
                <a:extLst>
                  <a:ext uri="{0D108BD9-81ED-4DB2-BD59-A6C34878D82A}">
                    <a16:rowId xmlns:a16="http://schemas.microsoft.com/office/drawing/2014/main" xmlns="" val="3684893865"/>
                  </a:ext>
                </a:extLst>
              </a:tr>
              <a:tr h="370840">
                <a:tc>
                  <a:txBody>
                    <a:bodyPr/>
                    <a:lstStyle/>
                    <a:p>
                      <a:r>
                        <a:rPr lang="en-US" dirty="0"/>
                        <a:t>Original</a:t>
                      </a:r>
                    </a:p>
                  </a:txBody>
                  <a:tcPr/>
                </a:tc>
                <a:tc>
                  <a:txBody>
                    <a:bodyPr/>
                    <a:lstStyle/>
                    <a:p>
                      <a:pPr algn="ctr" fontAlgn="b"/>
                      <a:r>
                        <a:rPr lang="en-US" sz="1800" b="0" i="0" u="none" strike="noStrike">
                          <a:solidFill>
                            <a:srgbClr val="000000"/>
                          </a:solidFill>
                          <a:effectLst/>
                          <a:latin typeface="Calibri" panose="020F0502020204030204" pitchFamily="34" charset="0"/>
                        </a:rPr>
                        <a:t>51.93571</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39.3</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33.82857</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15.15714</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7.814286</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4.771429</a:t>
                      </a:r>
                    </a:p>
                  </a:txBody>
                  <a:tcPr marL="9525" marR="9525" marT="9525" marB="0" anchor="ctr"/>
                </a:tc>
                <a:extLst>
                  <a:ext uri="{0D108BD9-81ED-4DB2-BD59-A6C34878D82A}">
                    <a16:rowId xmlns:a16="http://schemas.microsoft.com/office/drawing/2014/main" xmlns="" val="1465084929"/>
                  </a:ext>
                </a:extLst>
              </a:tr>
              <a:tr h="370840">
                <a:tc>
                  <a:txBody>
                    <a:bodyPr/>
                    <a:lstStyle/>
                    <a:p>
                      <a:r>
                        <a:rPr lang="en-US" dirty="0"/>
                        <a:t>50K</a:t>
                      </a:r>
                    </a:p>
                  </a:txBody>
                  <a:tcPr/>
                </a:tc>
                <a:tc>
                  <a:txBody>
                    <a:bodyPr/>
                    <a:lstStyle/>
                    <a:p>
                      <a:pPr algn="ctr" fontAlgn="b"/>
                      <a:r>
                        <a:rPr lang="en-US" sz="1800" b="0" i="0" u="none" strike="noStrike">
                          <a:solidFill>
                            <a:srgbClr val="000000"/>
                          </a:solidFill>
                          <a:effectLst/>
                          <a:latin typeface="Calibri" panose="020F0502020204030204" pitchFamily="34" charset="0"/>
                        </a:rPr>
                        <a:t>43.16429</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34.22857</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27.49286</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10.34286</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5.842857</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4.564286</a:t>
                      </a:r>
                    </a:p>
                  </a:txBody>
                  <a:tcPr marL="9525" marR="9525" marT="9525" marB="0" anchor="ctr"/>
                </a:tc>
                <a:extLst>
                  <a:ext uri="{0D108BD9-81ED-4DB2-BD59-A6C34878D82A}">
                    <a16:rowId xmlns:a16="http://schemas.microsoft.com/office/drawing/2014/main" xmlns="" val="2984827902"/>
                  </a:ext>
                </a:extLst>
              </a:tr>
              <a:tr h="370840">
                <a:tc>
                  <a:txBody>
                    <a:bodyPr/>
                    <a:lstStyle/>
                    <a:p>
                      <a:r>
                        <a:rPr lang="en-US" dirty="0"/>
                        <a:t>100K</a:t>
                      </a:r>
                    </a:p>
                  </a:txBody>
                  <a:tcPr/>
                </a:tc>
                <a:tc>
                  <a:txBody>
                    <a:bodyPr/>
                    <a:lstStyle/>
                    <a:p>
                      <a:pPr algn="ctr" fontAlgn="b"/>
                      <a:r>
                        <a:rPr lang="en-US" sz="1800" b="0" i="0" u="none" strike="noStrike">
                          <a:solidFill>
                            <a:srgbClr val="000000"/>
                          </a:solidFill>
                          <a:effectLst/>
                          <a:latin typeface="Calibri" panose="020F0502020204030204" pitchFamily="34" charset="0"/>
                        </a:rPr>
                        <a:t>50.84286</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41.45</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21.27857</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14.94286</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6.1</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2.671429</a:t>
                      </a:r>
                    </a:p>
                  </a:txBody>
                  <a:tcPr marL="9525" marR="9525" marT="9525" marB="0" anchor="ctr"/>
                </a:tc>
                <a:extLst>
                  <a:ext uri="{0D108BD9-81ED-4DB2-BD59-A6C34878D82A}">
                    <a16:rowId xmlns:a16="http://schemas.microsoft.com/office/drawing/2014/main" xmlns="" val="1319265946"/>
                  </a:ext>
                </a:extLst>
              </a:tr>
              <a:tr h="370840">
                <a:tc>
                  <a:txBody>
                    <a:bodyPr/>
                    <a:lstStyle/>
                    <a:p>
                      <a:r>
                        <a:rPr lang="en-US" dirty="0"/>
                        <a:t>New malicious</a:t>
                      </a:r>
                    </a:p>
                  </a:txBody>
                  <a:tcPr/>
                </a:tc>
                <a:tc>
                  <a:txBody>
                    <a:bodyPr/>
                    <a:lstStyle/>
                    <a:p>
                      <a:pPr algn="ctr" fontAlgn="b"/>
                      <a:r>
                        <a:rPr lang="en-US" sz="1800" b="0" i="0" u="none" strike="noStrike">
                          <a:solidFill>
                            <a:srgbClr val="000000"/>
                          </a:solidFill>
                          <a:effectLst/>
                          <a:latin typeface="Calibri" panose="020F0502020204030204" pitchFamily="34" charset="0"/>
                        </a:rPr>
                        <a:t>38.43571</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31.87857</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23</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10.65714</a:t>
                      </a:r>
                    </a:p>
                  </a:txBody>
                  <a:tcPr marL="9525" marR="9525" marT="9525" marB="0" anchor="ctr"/>
                </a:tc>
                <a:tc>
                  <a:txBody>
                    <a:bodyPr/>
                    <a:lstStyle/>
                    <a:p>
                      <a:pPr algn="ctr" fontAlgn="b"/>
                      <a:r>
                        <a:rPr lang="en-US" sz="1800" b="0" i="0" u="none" strike="noStrike">
                          <a:solidFill>
                            <a:srgbClr val="000000"/>
                          </a:solidFill>
                          <a:effectLst/>
                          <a:latin typeface="Calibri" panose="020F0502020204030204" pitchFamily="34" charset="0"/>
                        </a:rPr>
                        <a:t>5.235714</a:t>
                      </a:r>
                    </a:p>
                  </a:txBody>
                  <a:tcPr marL="9525" marR="9525" marT="9525" marB="0" anchor="ctr"/>
                </a:tc>
                <a:tc>
                  <a:txBody>
                    <a:bodyPr/>
                    <a:lstStyle/>
                    <a:p>
                      <a:pPr algn="ctr" fontAlgn="b"/>
                      <a:r>
                        <a:rPr lang="en-US" sz="1800" b="0" i="0" u="none" strike="noStrike" dirty="0">
                          <a:solidFill>
                            <a:srgbClr val="000000"/>
                          </a:solidFill>
                          <a:effectLst/>
                          <a:latin typeface="Calibri" panose="020F0502020204030204" pitchFamily="34" charset="0"/>
                        </a:rPr>
                        <a:t>3.857143</a:t>
                      </a:r>
                    </a:p>
                  </a:txBody>
                  <a:tcPr marL="9525" marR="9525" marT="9525" marB="0" anchor="ctr"/>
                </a:tc>
                <a:extLst>
                  <a:ext uri="{0D108BD9-81ED-4DB2-BD59-A6C34878D82A}">
                    <a16:rowId xmlns:a16="http://schemas.microsoft.com/office/drawing/2014/main" xmlns="" val="356770753"/>
                  </a:ext>
                </a:extLst>
              </a:tr>
            </a:tbl>
          </a:graphicData>
        </a:graphic>
      </p:graphicFrame>
      <p:sp>
        <p:nvSpPr>
          <p:cNvPr id="9" name="Content Placeholder 4">
            <a:extLst>
              <a:ext uri="{FF2B5EF4-FFF2-40B4-BE49-F238E27FC236}">
                <a16:creationId xmlns:a16="http://schemas.microsoft.com/office/drawing/2014/main" xmlns="" id="{37FD5772-69BA-4158-8DB7-D98F53AB28FB}"/>
              </a:ext>
            </a:extLst>
          </p:cNvPr>
          <p:cNvSpPr txBox="1">
            <a:spLocks/>
          </p:cNvSpPr>
          <p:nvPr/>
        </p:nvSpPr>
        <p:spPr>
          <a:xfrm>
            <a:off x="616448" y="3916467"/>
            <a:ext cx="11236720" cy="2575773"/>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Arial" pitchFamily="34" charset="0"/>
                <a:ea typeface="Verdana" pitchFamily="34" charset="0"/>
                <a:cs typeface="Arial"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Arial" pitchFamily="34" charset="0"/>
                <a:ea typeface="Verdana" pitchFamily="34" charset="0"/>
                <a:cs typeface="Arial"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000" kern="1200" smtClean="0">
                <a:solidFill>
                  <a:schemeClr val="tx1"/>
                </a:solidFill>
                <a:latin typeface="Arial" pitchFamily="34" charset="0"/>
                <a:ea typeface="Verdana" pitchFamily="34" charset="0"/>
                <a:cs typeface="Arial"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smtClean="0">
                <a:solidFill>
                  <a:schemeClr val="tx1"/>
                </a:solidFill>
                <a:latin typeface="Arial" pitchFamily="34" charset="0"/>
                <a:ea typeface="Verdana" pitchFamily="34" charset="0"/>
                <a:cs typeface="Arial"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Each model tested on over 10,000 domains (no ground truth labels)</a:t>
            </a:r>
          </a:p>
          <a:p>
            <a:pPr lvl="1"/>
            <a:r>
              <a:rPr lang="en-US" dirty="0"/>
              <a:t>Not necessarily all the same domains, but likely to overlap</a:t>
            </a:r>
          </a:p>
          <a:p>
            <a:r>
              <a:rPr lang="en-US" dirty="0"/>
              <a:t>Original model shows highest potential for false positives</a:t>
            </a:r>
          </a:p>
          <a:p>
            <a:pPr lvl="1"/>
            <a:r>
              <a:rPr lang="en-US" dirty="0"/>
              <a:t>Consistently flags the highest number of domains</a:t>
            </a:r>
          </a:p>
          <a:p>
            <a:r>
              <a:rPr lang="en-US" dirty="0"/>
              <a:t>100K and new malicious model show good potential for operational use</a:t>
            </a:r>
          </a:p>
        </p:txBody>
      </p:sp>
    </p:spTree>
    <p:extLst>
      <p:ext uri="{BB962C8B-B14F-4D97-AF65-F5344CB8AC3E}">
        <p14:creationId xmlns:p14="http://schemas.microsoft.com/office/powerpoint/2010/main" val="864685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A34A6F-34E4-46CE-97E7-755808FD17B5}"/>
              </a:ext>
            </a:extLst>
          </p:cNvPr>
          <p:cNvSpPr>
            <a:spLocks noGrp="1"/>
          </p:cNvSpPr>
          <p:nvPr>
            <p:ph type="title"/>
          </p:nvPr>
        </p:nvSpPr>
        <p:spPr/>
        <p:txBody>
          <a:bodyPr/>
          <a:lstStyle/>
          <a:p>
            <a:r>
              <a:rPr lang="en-US" dirty="0"/>
              <a:t>Conclusions &amp; Future Work</a:t>
            </a:r>
          </a:p>
        </p:txBody>
      </p:sp>
      <p:sp>
        <p:nvSpPr>
          <p:cNvPr id="3" name="Content Placeholder 2">
            <a:extLst>
              <a:ext uri="{FF2B5EF4-FFF2-40B4-BE49-F238E27FC236}">
                <a16:creationId xmlns:a16="http://schemas.microsoft.com/office/drawing/2014/main" xmlns="" id="{4A0AE434-1E14-49AF-B84F-0AB1E7E3ADB8}"/>
              </a:ext>
            </a:extLst>
          </p:cNvPr>
          <p:cNvSpPr>
            <a:spLocks noGrp="1"/>
          </p:cNvSpPr>
          <p:nvPr>
            <p:ph idx="1"/>
          </p:nvPr>
        </p:nvSpPr>
        <p:spPr/>
        <p:txBody>
          <a:bodyPr/>
          <a:lstStyle/>
          <a:p>
            <a:r>
              <a:rPr lang="en-US" dirty="0"/>
              <a:t>Augmented models appear to outperform original model</a:t>
            </a:r>
          </a:p>
          <a:p>
            <a:pPr lvl="1"/>
            <a:r>
              <a:rPr lang="en-US" dirty="0"/>
              <a:t>Updated threat feeds and/or more diverse training data may result in a better model</a:t>
            </a:r>
          </a:p>
          <a:p>
            <a:pPr lvl="1"/>
            <a:r>
              <a:rPr lang="en-US" dirty="0"/>
              <a:t>Additional testing/metrics/evaluation to be done before concrete conclusions</a:t>
            </a:r>
          </a:p>
          <a:p>
            <a:r>
              <a:rPr lang="en-US" dirty="0"/>
              <a:t>GANs show promise as a means of acquiring additional training &amp; testing data for the purpose of building a more robust classifier</a:t>
            </a:r>
          </a:p>
          <a:p>
            <a:pPr lvl="1"/>
            <a:r>
              <a:rPr lang="en-US" dirty="0"/>
              <a:t>Many ways to extend &amp; improve work</a:t>
            </a:r>
          </a:p>
          <a:p>
            <a:pPr lvl="2"/>
            <a:r>
              <a:rPr lang="en-US" dirty="0"/>
              <a:t>Continue development on original model</a:t>
            </a:r>
          </a:p>
          <a:p>
            <a:pPr lvl="2"/>
            <a:r>
              <a:rPr lang="en-US" dirty="0"/>
              <a:t>Experiment with alternate GAN architectures &amp; encoding methods</a:t>
            </a:r>
          </a:p>
          <a:p>
            <a:pPr lvl="2"/>
            <a:r>
              <a:rPr lang="en-US" dirty="0"/>
              <a:t>Hand-select data used to train GAN</a:t>
            </a:r>
          </a:p>
          <a:p>
            <a:pPr lvl="2"/>
            <a:r>
              <a:rPr lang="en-US" dirty="0"/>
              <a:t>Introduce fitness function as additional way to measure quality of output of GAN</a:t>
            </a:r>
          </a:p>
          <a:p>
            <a:pPr lvl="2"/>
            <a:endParaRPr lang="en-US" dirty="0"/>
          </a:p>
        </p:txBody>
      </p:sp>
      <p:sp>
        <p:nvSpPr>
          <p:cNvPr id="4" name="Footer Placeholder 3">
            <a:extLst>
              <a:ext uri="{FF2B5EF4-FFF2-40B4-BE49-F238E27FC236}">
                <a16:creationId xmlns:a16="http://schemas.microsoft.com/office/drawing/2014/main" xmlns="" id="{1D657781-8FB3-4F72-8116-80087FC38F93}"/>
              </a:ext>
            </a:extLst>
          </p:cNvPr>
          <p:cNvSpPr>
            <a:spLocks noGrp="1"/>
          </p:cNvSpPr>
          <p:nvPr>
            <p:ph type="ftr" sz="quarter" idx="11"/>
          </p:nvPr>
        </p:nvSpPr>
        <p:spPr/>
        <p:txBody>
          <a:bodyPr/>
          <a:lstStyle/>
          <a:p>
            <a:r>
              <a:rPr lang="en-US" altLang="en-US" dirty="0">
                <a:solidFill>
                  <a:schemeClr val="tx1">
                    <a:lumMod val="50000"/>
                    <a:lumOff val="50000"/>
                  </a:schemeClr>
                </a:solidFill>
                <a:latin typeface="Arial" pitchFamily="34" charset="0"/>
                <a:cs typeface="Arial" pitchFamily="34" charset="0"/>
              </a:rPr>
              <a:t>© 2018 The MITRE Corporation. All rights reserved. </a:t>
            </a:r>
            <a:r>
              <a:rPr lang="en-US" dirty="0">
                <a:latin typeface="Calibri" panose="020F0502020204030204" pitchFamily="34" charset="0"/>
                <a:cs typeface="Calibri" panose="020F0502020204030204" pitchFamily="34" charset="0"/>
              </a:rPr>
              <a:t>Approved for Public Release; Distribution Unlimited. Case Number 18-4439.</a:t>
            </a:r>
            <a:endParaRPr lang="en-US" dirty="0">
              <a:solidFill>
                <a:schemeClr val="tx1">
                  <a:lumMod val="50000"/>
                  <a:lumOff val="50000"/>
                </a:schemeClr>
              </a:solidFill>
              <a:latin typeface="Arial" pitchFamily="34" charset="0"/>
              <a:cs typeface="Arial" pitchFamily="34" charset="0"/>
            </a:endParaRPr>
          </a:p>
        </p:txBody>
      </p:sp>
    </p:spTree>
    <p:extLst>
      <p:ext uri="{BB962C8B-B14F-4D97-AF65-F5344CB8AC3E}">
        <p14:creationId xmlns:p14="http://schemas.microsoft.com/office/powerpoint/2010/main" val="2257913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302782"/>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briefing-2018.pptx" id="{E0E6CC39-198B-498B-AC84-13628679EB23}" vid="{64252E7A-5AE3-4274-81AE-68115DFFDB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ortOrder xmlns="45d44e74-5c87-4253-a1a6-fb7a2a9835a8">2</SortOrder>
    <MITRE_x0020_Sensitivity xmlns="http://schemas.microsoft.com/sharepoint/v3">Internal MITRE Information</MITRE_x0020_Sensitivity>
    <_Contributor xmlns="http://schemas.microsoft.com/sharepoint/v3/fields" xsi:nil="true"/>
    <Release_x0020_Statement xmlns="http://schemas.microsoft.com/sharepoint/v3">For Internal MITRE Use</Release_x0020_Statement>
    <Site_x0020_Page xmlns="45d44e74-5c87-4253-a1a6-fb7a2a9835a8">
      <Value>47</Value>
    </Site_x0020_Page>
    <Date xmlns="45d44e74-5c87-4253-a1a6-fb7a2a9835a8">2017-01-01T05:00:00+00:00</Date>
    <IconOverlay xmlns="http://schemas.microsoft.com/sharepoint/v4" xsi:nil="true"/>
    <DocType xmlns="45d44e74-5c87-4253-a1a6-fb7a2a9835a8">Template</DocTyp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True</openByDefault>
  <xsnScope/>
</customXsn>
</file>

<file path=customXml/item4.xml><?xml version="1.0" encoding="utf-8"?>
<ct:contentTypeSchema xmlns:ct="http://schemas.microsoft.com/office/2006/metadata/contentType" xmlns:ma="http://schemas.microsoft.com/office/2006/metadata/properties/metaAttributes" ct:_="" ma:_="" ma:contentTypeName="MITRE Work" ma:contentTypeID="0x0101001EAE5F8AE92E0443B0635AEF5BFC9F76004C6CC03BF5DC804FBBC33E4E55C06EE9" ma:contentTypeVersion="6" ma:contentTypeDescription="Materials and documents that contain MITRE authored content and other content directly attributable to MITRE and its work" ma:contentTypeScope="" ma:versionID="e8429a4ef0cd6a0905ec9041da35bdd8">
  <xsd:schema xmlns:xsd="http://www.w3.org/2001/XMLSchema" xmlns:xs="http://www.w3.org/2001/XMLSchema" xmlns:p="http://schemas.microsoft.com/office/2006/metadata/properties" xmlns:ns1="http://schemas.microsoft.com/sharepoint/v3" xmlns:ns2="http://schemas.microsoft.com/sharepoint/v3/fields" xmlns:ns3="45d44e74-5c87-4253-a1a6-fb7a2a9835a8" xmlns:ns4="http://schemas.microsoft.com/sharepoint/v4" xmlns:ns5="d6dad062-3ecc-4c2a-98eb-3d03c2389ab6" targetNamespace="http://schemas.microsoft.com/office/2006/metadata/properties" ma:root="true" ma:fieldsID="d4be5a15e899d1941129a2c5e869f0c8" ns1:_="" ns2:_="" ns3:_="" ns4:_="" ns5:_="">
    <xsd:import namespace="http://schemas.microsoft.com/sharepoint/v3"/>
    <xsd:import namespace="http://schemas.microsoft.com/sharepoint/v3/fields"/>
    <xsd:import namespace="45d44e74-5c87-4253-a1a6-fb7a2a9835a8"/>
    <xsd:import namespace="http://schemas.microsoft.com/sharepoint/v4"/>
    <xsd:import namespace="d6dad062-3ecc-4c2a-98eb-3d03c2389ab6"/>
    <xsd:element name="properties">
      <xsd:complexType>
        <xsd:sequence>
          <xsd:element name="documentManagement">
            <xsd:complexType>
              <xsd:all>
                <xsd:element ref="ns2:_Contributor" minOccurs="0"/>
                <xsd:element ref="ns1:MITRE_x0020_Sensitivity"/>
                <xsd:element ref="ns1:Release_x0020_Statement"/>
                <xsd:element ref="ns3:DocType" minOccurs="0"/>
                <xsd:element ref="ns3:SortOrder" minOccurs="0"/>
                <xsd:element ref="ns3:Site_x0020_Page" minOccurs="0"/>
                <xsd:element ref="ns4:IconOverlay" minOccurs="0"/>
                <xsd:element ref="ns5:SharedWithUsers" minOccurs="0"/>
                <xsd:element ref="ns3: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MITRE_x0020_Sensitivity" ma:index="10" ma:displayName="Sensitivity" ma:default="Internal MITRE Information" ma:internalName="MITRE_x0020_Sensitivity">
      <xsd:simpleType>
        <xsd:restriction base="dms:Choice">
          <xsd:enumeration value="Public Information"/>
          <xsd:enumeration value="Internal MITRE Information"/>
          <xsd:enumeration value="Sensitive Information"/>
          <xsd:enumeration value="Highly Sensitive Information"/>
        </xsd:restriction>
      </xsd:simpleType>
    </xsd:element>
    <xsd:element name="Release_x0020_Statement" ma:index="11" ma:displayName="Release Statement" ma:default="For Internal MITRE Use" ma:internalName="Release_x0020_Statement">
      <xsd:simpleType>
        <xsd:union memberTypes="dms:Text">
          <xsd:simpleType>
            <xsd:restriction base="dms:Choice">
              <xsd:enumeration value="Approved for Public Release"/>
              <xsd:enumeration value="For Internal MITRE Use"/>
              <xsd:enumeration value="For Release to All Sponsors"/>
              <xsd:enumeration value="For Limited Internal MITRE Use"/>
              <xsd:enumeration value="For Limited External Release"/>
              <xsd:enumeration value="Privileged: Sensitive Personal Information"/>
              <xsd:enumeration value="MITRE Proprietary"/>
              <xsd:enumeration value="Source Selection Sensitive"/>
              <xsd:enumeration value="Restricted: Highly Sensitive Personal Information"/>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Contributor" ma:index="9" nillable="true" ma:displayName="Contributor" ma:description="One or more people or organizations that contributed to this resource" ma:internalName="_Contributor">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d44e74-5c87-4253-a1a6-fb7a2a9835a8" elementFormDefault="qualified">
    <xsd:import namespace="http://schemas.microsoft.com/office/2006/documentManagement/types"/>
    <xsd:import namespace="http://schemas.microsoft.com/office/infopath/2007/PartnerControls"/>
    <xsd:element name="DocType" ma:index="12" nillable="true" ma:displayName="DocType" ma:format="Dropdown" ma:internalName="DocType">
      <xsd:simpleType>
        <xsd:restriction base="dms:Choice">
          <xsd:enumeration value="Board of Trustee Bio"/>
          <xsd:enumeration value="Executive Bio"/>
          <xsd:enumeration value="Event Planning"/>
          <xsd:enumeration value="MPG Reference"/>
          <xsd:enumeration value="Template"/>
          <xsd:enumeration value="Other"/>
          <xsd:enumeration value="How-Tos"/>
          <xsd:enumeration value="BOT Program Highlights"/>
        </xsd:restriction>
      </xsd:simpleType>
    </xsd:element>
    <xsd:element name="SortOrder" ma:index="13" nillable="true" ma:displayName="SortOrder" ma:decimals="1" ma:internalName="SortOrder" ma:percentage="FALSE">
      <xsd:simpleType>
        <xsd:restriction base="dms:Number"/>
      </xsd:simpleType>
    </xsd:element>
    <xsd:element name="Site_x0020_Page" ma:index="14" nillable="true" ma:displayName="Site Pages" ma:description="On which pages of this site should this page appear as a &quot;related resource&quot; on the right." ma:list="{b7793db3-9feb-473e-8d7c-24c256e016ac}" ma:internalName="Site_x0020_Page" ma:showField="Title">
      <xsd:complexType>
        <xsd:complexContent>
          <xsd:extension base="dms:MultiChoiceLookup">
            <xsd:sequence>
              <xsd:element name="Value" type="dms:Lookup" maxOccurs="unbounded" minOccurs="0" nillable="true"/>
            </xsd:sequence>
          </xsd:extension>
        </xsd:complexContent>
      </xsd:complexType>
    </xsd:element>
    <xsd:element name="Date" ma:index="19" nillable="true" ma:displayName="Date" ma:description="Document date if applicabl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5" nillable="true" ma:displayName="IconOverlay" ma:hidden="true" ma:internalName="IconOverlay"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dad062-3ecc-4c2a-98eb-3d03c2389ab6" elementFormDefault="qualified">
    <xsd:import namespace="http://schemas.microsoft.com/office/2006/documentManagement/types"/>
    <xsd:import namespace="http://schemas.microsoft.com/office/infopath/2007/PartnerControls"/>
    <xsd:element name="SharedWithUsers" ma:index="1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115952-705A-47C2-AF98-EE347D400751}">
  <ds:schemaRefs>
    <ds:schemaRef ds:uri="http://schemas.microsoft.com/office/infopath/2007/PartnerControls"/>
    <ds:schemaRef ds:uri="http://schemas.microsoft.com/sharepoint/v3"/>
    <ds:schemaRef ds:uri="http://purl.org/dc/elements/1.1/"/>
    <ds:schemaRef ds:uri="d6dad062-3ecc-4c2a-98eb-3d03c2389ab6"/>
    <ds:schemaRef ds:uri="http://purl.org/dc/dcmitype/"/>
    <ds:schemaRef ds:uri="http://schemas.microsoft.com/sharepoint/v4"/>
    <ds:schemaRef ds:uri="http://purl.org/dc/terms/"/>
    <ds:schemaRef ds:uri="http://schemas.openxmlformats.org/package/2006/metadata/core-properties"/>
    <ds:schemaRef ds:uri="http://schemas.microsoft.com/office/2006/metadata/properties"/>
    <ds:schemaRef ds:uri="http://schemas.microsoft.com/office/2006/documentManagement/types"/>
    <ds:schemaRef ds:uri="45d44e74-5c87-4253-a1a6-fb7a2a9835a8"/>
    <ds:schemaRef ds:uri="http://schemas.microsoft.com/sharepoint/v3/fields"/>
    <ds:schemaRef ds:uri="http://www.w3.org/XML/1998/namespace"/>
  </ds:schemaRefs>
</ds:datastoreItem>
</file>

<file path=customXml/itemProps2.xml><?xml version="1.0" encoding="utf-8"?>
<ds:datastoreItem xmlns:ds="http://schemas.openxmlformats.org/officeDocument/2006/customXml" ds:itemID="{C8763D85-0CBE-4A05-81D6-D1B370E3DC82}">
  <ds:schemaRefs>
    <ds:schemaRef ds:uri="http://schemas.microsoft.com/sharepoint/v3/contenttype/forms"/>
  </ds:schemaRefs>
</ds:datastoreItem>
</file>

<file path=customXml/itemProps3.xml><?xml version="1.0" encoding="utf-8"?>
<ds:datastoreItem xmlns:ds="http://schemas.openxmlformats.org/officeDocument/2006/customXml" ds:itemID="{8215F32F-6F57-464C-B053-7241A9938C29}">
  <ds:schemaRefs>
    <ds:schemaRef ds:uri="http://schemas.microsoft.com/office/2006/metadata/customXsn"/>
  </ds:schemaRefs>
</ds:datastoreItem>
</file>

<file path=customXml/itemProps4.xml><?xml version="1.0" encoding="utf-8"?>
<ds:datastoreItem xmlns:ds="http://schemas.openxmlformats.org/officeDocument/2006/customXml" ds:itemID="{64552275-9FB4-497D-864E-F519488966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3/fields"/>
    <ds:schemaRef ds:uri="45d44e74-5c87-4253-a1a6-fb7a2a9835a8"/>
    <ds:schemaRef ds:uri="http://schemas.microsoft.com/sharepoint/v4"/>
    <ds:schemaRef ds:uri="d6dad062-3ecc-4c2a-98eb-3d03c2389a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MITRE_Briefing_Template16x9</Template>
  <TotalTime>15012</TotalTime>
  <Words>1097</Words>
  <Application>Microsoft Office PowerPoint</Application>
  <PresentationFormat>Widescreen</PresentationFormat>
  <Paragraphs>246</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 Math</vt:lpstr>
      <vt:lpstr>Times New Roman</vt:lpstr>
      <vt:lpstr>Verdana</vt:lpstr>
      <vt:lpstr>Wingdings</vt:lpstr>
      <vt:lpstr>mitre-2018</vt:lpstr>
      <vt:lpstr>Using Generative Adversarial Networks to Improve Phishing Domain Classifiers</vt:lpstr>
      <vt:lpstr>Categorizing Phishing Domains</vt:lpstr>
      <vt:lpstr>Adversarial Machine Learning</vt:lpstr>
      <vt:lpstr>Generative Adversarial Machine Learning</vt:lpstr>
      <vt:lpstr>Datasets for Classifier &amp; GAN</vt:lpstr>
      <vt:lpstr>Initial Phishing Domain Classifier</vt:lpstr>
      <vt:lpstr>GAN Choice: Adversarial Autoencoder (AAE)</vt:lpstr>
      <vt:lpstr>Converting Domains to Vectors</vt:lpstr>
      <vt:lpstr>Decoder as Stand-Alone Generator</vt:lpstr>
      <vt:lpstr>Test Set Results: Original &amp; Augmented Classifiers</vt:lpstr>
      <vt:lpstr>Real World Testing Results</vt:lpstr>
      <vt:lpstr>Conclusions &amp; Future Work</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Adversarial Machine Learning to Phishing Detection</dc:title>
  <dc:creator>Heath, Emily A.</dc:creator>
  <cp:lastModifiedBy>Aaron M. Detwiler</cp:lastModifiedBy>
  <cp:revision>160</cp:revision>
  <dcterms:created xsi:type="dcterms:W3CDTF">2018-04-02T13:32:15Z</dcterms:created>
  <dcterms:modified xsi:type="dcterms:W3CDTF">2018-12-12T17:53:52Z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28200</vt:r8>
  </property>
  <property fmtid="{D5CDD505-2E9C-101B-9397-08002B2CF9AE}" pid="3" name="URL">
    <vt:lpwstr/>
  </property>
  <property fmtid="{D5CDD505-2E9C-101B-9397-08002B2CF9AE}" pid="4" name="xd_ProgID">
    <vt:lpwstr/>
  </property>
  <property fmtid="{D5CDD505-2E9C-101B-9397-08002B2CF9AE}" pid="5" name="ContentTypeId">
    <vt:lpwstr>0x0101001EAE5F8AE92E0443B0635AEF5BFC9F76004C6CC03BF5DC804FBBC33E4E55C06EE9</vt:lpwstr>
  </property>
  <property fmtid="{D5CDD505-2E9C-101B-9397-08002B2CF9AE}" pid="6" name="_SourceUrl">
    <vt:lpwstr/>
  </property>
  <property fmtid="{D5CDD505-2E9C-101B-9397-08002B2CF9AE}" pid="7" name="_SharedFileIndex">
    <vt:lpwstr/>
  </property>
  <property fmtid="{D5CDD505-2E9C-101B-9397-08002B2CF9AE}" pid="8" name="Date0">
    <vt:filetime>2017-01-01T05:00:00Z</vt:filetime>
  </property>
  <property fmtid="{D5CDD505-2E9C-101B-9397-08002B2CF9AE}" pid="9" name="TemplateUrl">
    <vt:lpwstr/>
  </property>
</Properties>
</file>